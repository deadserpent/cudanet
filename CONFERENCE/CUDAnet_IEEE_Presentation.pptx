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2A4A"/>
                </a:solidFill>
              </a:rPr>
              <a:t>Approximate GPU Memory Footprint (MB)</a:t>
            </a:r>
          </a:p>
        </c:rich>
      </c:tx>
      <c:layout/>
      <c:overlay val="0"/>
    </c:title>
    <c:autoTitleDeleted val="0"/>
    <c:plotArea>
      <c:barChart>
        <c:barDir val="col"/>
        <c:grouping val="clustered"/>
        <c:ser>
          <c:idx val="0"/>
          <c:order val="0"/>
          <c:tx>
            <c:strRef>
              <c:f>Sheet1!$B$1</c:f>
              <c:strCache>
                <c:ptCount val="1"/>
                <c:pt idx="0">
                  <c:v>Approx. size (MB)</c:v>
                </c:pt>
              </c:strCache>
            </c:strRef>
          </c:tx>
          <c:spPr>
            <a:solidFill>
              <a:srgbClr val="0B5394"/>
            </a:solidFill>
          </c:spPr>
          <c:dPt>
            <c:idx val="0"/>
            <c:spPr>
              <a:solidFill>
                <a:srgbClr val="0B5394"/>
              </a:solidFill>
            </c:spPr>
          </c:dPt>
          <c:dPt>
            <c:idx val="1"/>
            <c:spPr>
              <a:solidFill>
                <a:srgbClr val="2E75D6"/>
              </a:solidFill>
            </c:spPr>
          </c:dPt>
          <c:dPt>
            <c:idx val="2"/>
            <c:spPr>
              <a:solidFill>
                <a:srgbClr val="64748B"/>
              </a:solidFill>
            </c:spPr>
          </c:dPt>
          <c:dPt>
            <c:idx val="3"/>
            <c:spPr>
              <a:solidFill>
                <a:srgbClr val="2E75D6"/>
              </a:solidFill>
            </c:spPr>
          </c:dPt>
          <c:dPt>
            <c:idx val="4"/>
            <c:spPr>
              <a:solidFill>
                <a:srgbClr val="64748B"/>
              </a:solidFill>
            </c:spPr>
          </c:dPt>
          <c:cat>
            <c:strRef>
              <c:f>Sheet1!$A$2:$A$6</c:f>
              <c:strCache>
                <c:ptCount val="5"/>
                <c:pt idx="0">
                  <c:v>Training images</c:v>
                </c:pt>
                <c:pt idx="1">
                  <c:v>Test images</c:v>
                </c:pt>
                <c:pt idx="2">
                  <c:v>Weights + biases</c:v>
                </c:pt>
                <c:pt idx="3">
                  <c:v>Per-batch scratch</c:v>
                </c:pt>
                <c:pt idx="4">
                  <c:v>Adam state</c:v>
                </c:pt>
              </c:strCache>
            </c:strRef>
          </c:cat>
          <c:val>
            <c:numRef>
              <c:f>Sheet1!$B$2:$B$6</c:f>
              <c:numCache>
                <c:formatCode>General</c:formatCode>
                <c:ptCount val="5"/>
                <c:pt idx="0">
                  <c:v>188</c:v>
                </c:pt>
                <c:pt idx="1">
                  <c:v>31</c:v>
                </c:pt>
                <c:pt idx="2">
                  <c:v>0.47</c:v>
                </c:pt>
                <c:pt idx="3">
                  <c:v>8.5</c:v>
                </c:pt>
                <c:pt idx="4">
                  <c:v>0.94</c:v>
                </c:pt>
              </c:numCache>
            </c:numRef>
          </c:val>
        </c:ser>
        <c:dLbls>
          <c:numFmt formatCode="0.0" sourceLinked="0"/>
          <c:txPr>
            <a:bodyPr/>
            <a:lstStyle/>
            <a:p>
              <a:pPr>
                <a:defRPr sz="1200" b="1">
                  <a:solidFill>
                    <a:srgbClr val="0B2A4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C0AF"/>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solidFill>
            <a:srgbClr val="222B36"/>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2A4A"/>
                </a:solidFill>
              </a:rPr>
              <a:t>Cosine LR Decay (η₀ = 0.01)</a:t>
            </a:r>
          </a:p>
        </c:rich>
      </c:tx>
      <c:layout/>
      <c:overlay val="0"/>
    </c:title>
    <c:autoTitleDeleted val="0"/>
    <c:plotArea>
      <c:lineChart>
        <c:grouping val="standard"/>
        <c:varyColors val="0"/>
        <c:ser>
          <c:idx val="0"/>
          <c:order val="0"/>
          <c:tx>
            <c:strRef>
              <c:f>Sheet1!$B$1</c:f>
              <c:strCache>
                <c:ptCount val="1"/>
                <c:pt idx="0">
                  <c:v>Cosine LR schedule</c:v>
                </c:pt>
              </c:strCache>
            </c:strRef>
          </c:tx>
          <c:spPr>
            <a:ln w="31750">
              <a:solidFill>
                <a:srgbClr val="0B5394"/>
              </a:solidFill>
            </a:ln>
          </c:spPr>
          <c:marker>
            <c:spPr>
              <a:solidFill>
                <a:srgbClr val="0B5394"/>
              </a:solidFill>
            </c:spPr>
          </c:marker>
          <c:cat>
            <c:strRef>
              <c:f>Sheet1!$A$2:$A$12</c:f>
              <c:strCache>
                <c:ptCount val="11"/>
                <c:pt idx="0">
                  <c:v>0</c:v>
                </c:pt>
                <c:pt idx="1">
                  <c:v>2</c:v>
                </c:pt>
                <c:pt idx="2">
                  <c:v>4</c:v>
                </c:pt>
                <c:pt idx="3">
                  <c:v>6</c:v>
                </c:pt>
                <c:pt idx="4">
                  <c:v>8</c:v>
                </c:pt>
                <c:pt idx="5">
                  <c:v>10</c:v>
                </c:pt>
                <c:pt idx="6">
                  <c:v>12</c:v>
                </c:pt>
                <c:pt idx="7">
                  <c:v>14</c:v>
                </c:pt>
                <c:pt idx="8">
                  <c:v>16</c:v>
                </c:pt>
                <c:pt idx="9">
                  <c:v>18</c:v>
                </c:pt>
                <c:pt idx="10">
                  <c:v>20</c:v>
                </c:pt>
              </c:strCache>
            </c:strRef>
          </c:cat>
          <c:val>
            <c:numRef>
              <c:f>Sheet1!$B$2:$B$12</c:f>
              <c:numCache>
                <c:formatCode>General</c:formatCode>
                <c:ptCount val="11"/>
                <c:pt idx="0">
                  <c:v>0.01</c:v>
                </c:pt>
                <c:pt idx="1">
                  <c:v>0.00976</c:v>
                </c:pt>
                <c:pt idx="2">
                  <c:v>0.00905</c:v>
                </c:pt>
                <c:pt idx="3">
                  <c:v>0.00794</c:v>
                </c:pt>
                <c:pt idx="4">
                  <c:v>0.00655</c:v>
                </c:pt>
                <c:pt idx="5">
                  <c:v>0.005</c:v>
                </c:pt>
                <c:pt idx="6">
                  <c:v>0.00345</c:v>
                </c:pt>
                <c:pt idx="7">
                  <c:v>0.00206</c:v>
                </c:pt>
                <c:pt idx="8">
                  <c:v>0.00095</c:v>
                </c:pt>
                <c:pt idx="9">
                  <c:v>0.00024</c:v>
                </c:pt>
                <c:pt idx="10">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delete val="0"/>
        <c:axPos val="l"/>
        <c:majorGridlines>
          <c:spPr>
            <a:ln>
              <a:solidFill>
                <a:srgbClr val="E5E9EF"/>
              </a:solidFill>
            </a:ln>
          </c:spPr>
        </c:majorGridlines>
        <c:numFmt formatCode="0&quot;%&quot;" sourceLinked="0"/>
        <c:majorTickMark val="out"/>
        <c:minorTickMark val="none"/>
        <c:tickLblPos val="nextTo"/>
        <c:txPr>
          <a:bodyPr/>
          <a:lstStyle/>
          <a:p>
            <a:pPr>
              <a:defRPr sz="10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222B36"/>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Speedup vs. Serial CPU (×)</c:v>
                </c:pt>
              </c:strCache>
            </c:strRef>
          </c:tx>
          <c:spPr>
            <a:solidFill>
              <a:srgbClr val="0B5394"/>
            </a:solidFill>
          </c:spPr>
          <c:dPt>
            <c:idx val="0"/>
            <c:spPr>
              <a:solidFill>
                <a:srgbClr val="64748B"/>
              </a:solidFill>
            </c:spPr>
          </c:dPt>
          <c:dPt>
            <c:idx val="1"/>
            <c:spPr>
              <a:solidFill>
                <a:srgbClr val="0B5394"/>
              </a:solidFill>
            </c:spPr>
          </c:dPt>
          <c:dPt>
            <c:idx val="2"/>
            <c:spPr>
              <a:solidFill>
                <a:srgbClr val="0B5394"/>
              </a:solidFill>
            </c:spPr>
          </c:dPt>
          <c:dPt>
            <c:idx val="3"/>
            <c:spPr>
              <a:solidFill>
                <a:srgbClr val="0B5394"/>
              </a:solidFill>
            </c:spPr>
          </c:dPt>
          <c:dPt>
            <c:idx val="4"/>
            <c:spPr>
              <a:solidFill>
                <a:srgbClr val="2E75D6"/>
              </a:solidFill>
            </c:spPr>
          </c:dPt>
          <c:cat>
            <c:strRef>
              <c:f>Sheet1!$A$2:$A$6</c:f>
              <c:strCache>
                <c:ptCount val="5"/>
                <c:pt idx="0">
                  <c:v>Serial CPU</c:v>
                </c:pt>
                <c:pt idx="1">
                  <c:v>CUDA SGD</c:v>
                </c:pt>
                <c:pt idx="2">
                  <c:v>CUDA Momentum</c:v>
                </c:pt>
                <c:pt idx="3">
                  <c:v>CUDA Adam</c:v>
                </c:pt>
                <c:pt idx="4">
                  <c:v>CUDA BN+Adam+LR</c:v>
                </c:pt>
              </c:strCache>
            </c:strRef>
          </c:cat>
          <c:val>
            <c:numRef>
              <c:f>Sheet1!$B$2:$B$6</c:f>
              <c:numCache>
                <c:formatCode>General</c:formatCode>
                <c:ptCount val="5"/>
                <c:pt idx="0">
                  <c:v>1</c:v>
                </c:pt>
                <c:pt idx="1">
                  <c:v>2202</c:v>
                </c:pt>
                <c:pt idx="2">
                  <c:v>2156</c:v>
                </c:pt>
                <c:pt idx="3">
                  <c:v>2029</c:v>
                </c:pt>
                <c:pt idx="4">
                  <c:v>1669</c:v>
                </c:pt>
              </c:numCache>
            </c:numRef>
          </c:val>
        </c:ser>
        <c:dLbls>
          <c:numFmt formatCode="0&quot;×&quot;" sourceLinked="0"/>
          <c:txPr>
            <a:bodyPr/>
            <a:lstStyle/>
            <a:p>
              <a:pPr>
                <a:defRPr sz="1200" b="1">
                  <a:solidFill>
                    <a:srgbClr val="0B2A4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C0AF"/>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solidFill>
            <a:srgbClr val="222B36"/>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Final Test Accuracy (%)</c:v>
                </c:pt>
              </c:strCache>
            </c:strRef>
          </c:tx>
          <c:spPr>
            <a:solidFill>
              <a:srgbClr val="0B5394"/>
            </a:solidFill>
          </c:spPr>
          <c:dPt>
            <c:idx val="0"/>
            <c:spPr>
              <a:solidFill>
                <a:srgbClr val="0B5394"/>
              </a:solidFill>
            </c:spPr>
          </c:dPt>
          <c:dPt>
            <c:idx val="1"/>
            <c:spPr>
              <a:solidFill>
                <a:srgbClr val="1E7A46"/>
              </a:solidFill>
            </c:spPr>
          </c:dPt>
          <c:dPt>
            <c:idx val="2"/>
            <c:spPr>
              <a:solidFill>
                <a:srgbClr val="1E7A46"/>
              </a:solidFill>
            </c:spPr>
          </c:dPt>
          <c:dPt>
            <c:idx val="3"/>
            <c:spPr>
              <a:solidFill>
                <a:srgbClr val="0B5394"/>
              </a:solidFill>
            </c:spPr>
          </c:dPt>
          <c:dPt>
            <c:idx val="4"/>
            <c:spPr>
              <a:solidFill>
                <a:srgbClr val="2E75D6"/>
              </a:solidFill>
            </c:spPr>
          </c:dPt>
          <c:dPt>
            <c:idx val="5"/>
            <c:spPr>
              <a:solidFill>
                <a:srgbClr val="B43B2E"/>
              </a:solidFill>
            </c:spPr>
          </c:dPt>
          <c:cat>
            <c:strRef>
              <c:f>Sheet1!$A$2:$A$7</c:f>
              <c:strCache>
                <c:ptCount val="6"/>
                <c:pt idx="0">
                  <c:v>SGD</c:v>
                </c:pt>
                <c:pt idx="1">
                  <c:v>Momentum</c:v>
                </c:pt>
                <c:pt idx="2">
                  <c:v>Adam</c:v>
                </c:pt>
                <c:pt idx="3">
                  <c:v>Adam+LR</c:v>
                </c:pt>
                <c:pt idx="4">
                  <c:v>BN+SGD</c:v>
                </c:pt>
                <c:pt idx="5">
                  <c:v>BN+Adam+LR</c:v>
                </c:pt>
              </c:strCache>
            </c:strRef>
          </c:cat>
          <c:val>
            <c:numRef>
              <c:f>Sheet1!$B$2:$B$7</c:f>
              <c:numCache>
                <c:formatCode>General</c:formatCode>
                <c:ptCount val="6"/>
                <c:pt idx="0">
                  <c:v>94.3</c:v>
                </c:pt>
                <c:pt idx="1">
                  <c:v>97.2</c:v>
                </c:pt>
                <c:pt idx="2">
                  <c:v>97.2</c:v>
                </c:pt>
                <c:pt idx="3">
                  <c:v>97.0</c:v>
                </c:pt>
                <c:pt idx="4">
                  <c:v>93.1</c:v>
                </c:pt>
                <c:pt idx="5">
                  <c:v>81.0</c:v>
                </c:pt>
              </c:numCache>
            </c:numRef>
          </c:val>
        </c:ser>
        <c:dLbls>
          <c:numFmt formatCode="0.0&quot;%&quot;" sourceLinked="0"/>
          <c:txPr>
            <a:bodyPr/>
            <a:lstStyle/>
            <a:p>
              <a:pPr>
                <a:defRPr sz="1200" b="1">
                  <a:solidFill>
                    <a:srgbClr val="0B2A4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C0AF"/>
            </a:solidFill>
          </a:ln>
        </c:spPr>
        <c:txPr>
          <a:bodyPr/>
          <a:lstStyle/>
          <a:p>
            <a:pPr>
              <a:defRPr sz="1100"/>
            </a:pPr>
          </a:p>
        </c:txPr>
        <c:crossAx val="-2113994440"/>
        <c:crosses val="autoZero"/>
        <c:auto val="1"/>
        <c:lblAlgn val="ctr"/>
        <c:lblOffset val="100"/>
        <c:noMultiLvlLbl val="0"/>
      </c:catAx>
      <c:valAx>
        <c:axId val="-2113994440"/>
        <c:scaling>
          <c:max val="1.05"/>
        </c:scaling>
        <c:delete/>
        <c:axPos val="l"/>
        <c:majorTickMark val="out"/>
        <c:minorTickMark val="none"/>
        <c:tickLblPos val="nextTo"/>
        <c:crossAx val="-2068027336"/>
        <c:crosses val="autoZero"/>
      </c:valAx>
    </c:plotArea>
    <c:dispBlanksAs val="gap"/>
  </c:chart>
  <c:txPr>
    <a:bodyPr/>
    <a:lstStyle/>
    <a:p>
      <a:pPr>
        <a:defRPr sz="1100">
          <a:solidFill>
            <a:srgbClr val="222B36"/>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2A4A"/>
                </a:solidFill>
              </a:rPr>
              <a:t>Test Accuracy vs. Epoch</a:t>
            </a:r>
          </a:p>
        </c:rich>
      </c:tx>
      <c:layout/>
      <c:overlay val="0"/>
    </c:title>
    <c:autoTitleDeleted val="0"/>
    <c:plotArea>
      <c:lineChart>
        <c:grouping val="standard"/>
        <c:varyColors val="0"/>
        <c:ser>
          <c:idx val="0"/>
          <c:order val="0"/>
          <c:tx>
            <c:strRef>
              <c:f>Sheet1!$B$1</c:f>
              <c:strCache>
                <c:ptCount val="1"/>
                <c:pt idx="0">
                  <c:v>SGD</c:v>
                </c:pt>
              </c:strCache>
            </c:strRef>
          </c:tx>
          <c:spPr>
            <a:ln w="31750">
              <a:solidFill>
                <a:srgbClr val="2E75D6"/>
              </a:solidFill>
            </a:ln>
          </c:spPr>
          <c:marker>
            <c:spPr>
              <a:solidFill>
                <a:srgbClr val="2E75D6"/>
              </a:solidFill>
            </c:spPr>
          </c:marker>
          <c:cat>
            <c:strRef>
              <c:f>Sheet1!$A$2:$A$6</c:f>
              <c:strCache>
                <c:ptCount val="5"/>
                <c:pt idx="0">
                  <c:v>0</c:v>
                </c:pt>
                <c:pt idx="1">
                  <c:v>5</c:v>
                </c:pt>
                <c:pt idx="2">
                  <c:v>10</c:v>
                </c:pt>
                <c:pt idx="3">
                  <c:v>15</c:v>
                </c:pt>
                <c:pt idx="4">
                  <c:v>20</c:v>
                </c:pt>
              </c:strCache>
            </c:strRef>
          </c:cat>
          <c:val>
            <c:numRef>
              <c:f>Sheet1!$B$2:$B$6</c:f>
              <c:numCache>
                <c:formatCode>General</c:formatCode>
                <c:ptCount val="5"/>
                <c:pt idx="0">
                  <c:v>10.2</c:v>
                </c:pt>
                <c:pt idx="1">
                  <c:v>90.7</c:v>
                </c:pt>
                <c:pt idx="2">
                  <c:v>92.4</c:v>
                </c:pt>
                <c:pt idx="3">
                  <c:v>93.5</c:v>
                </c:pt>
                <c:pt idx="4">
                  <c:v>94.3</c:v>
                </c:pt>
              </c:numCache>
            </c:numRef>
          </c:val>
          <c:smooth val="0"/>
        </c:ser>
        <c:ser>
          <c:idx val="1"/>
          <c:order val="1"/>
          <c:tx>
            <c:strRef>
              <c:f>Sheet1!$C$1</c:f>
              <c:strCache>
                <c:ptCount val="1"/>
                <c:pt idx="0">
                  <c:v>Momentum</c:v>
                </c:pt>
              </c:strCache>
            </c:strRef>
          </c:tx>
          <c:spPr>
            <a:ln w="31750">
              <a:solidFill>
                <a:srgbClr val="1E7A46"/>
              </a:solidFill>
            </a:ln>
          </c:spPr>
          <c:marker>
            <c:spPr>
              <a:solidFill>
                <a:srgbClr val="1E7A46"/>
              </a:solidFill>
            </c:spPr>
          </c:marker>
          <c:cat>
            <c:strRef>
              <c:f>Sheet1!$A$2:$A$6</c:f>
              <c:strCache>
                <c:ptCount val="5"/>
                <c:pt idx="0">
                  <c:v>0</c:v>
                </c:pt>
                <c:pt idx="1">
                  <c:v>5</c:v>
                </c:pt>
                <c:pt idx="2">
                  <c:v>10</c:v>
                </c:pt>
                <c:pt idx="3">
                  <c:v>15</c:v>
                </c:pt>
                <c:pt idx="4">
                  <c:v>20</c:v>
                </c:pt>
              </c:strCache>
            </c:strRef>
          </c:cat>
          <c:val>
            <c:numRef>
              <c:f>Sheet1!$C$2:$C$6</c:f>
              <c:numCache>
                <c:formatCode>General</c:formatCode>
                <c:ptCount val="5"/>
                <c:pt idx="0">
                  <c:v>10.2</c:v>
                </c:pt>
                <c:pt idx="1">
                  <c:v>95.0</c:v>
                </c:pt>
                <c:pt idx="2">
                  <c:v>96.4</c:v>
                </c:pt>
                <c:pt idx="3">
                  <c:v>97.0</c:v>
                </c:pt>
                <c:pt idx="4">
                  <c:v>97.2</c:v>
                </c:pt>
              </c:numCache>
            </c:numRef>
          </c:val>
          <c:smooth val="0"/>
        </c:ser>
        <c:ser>
          <c:idx val="2"/>
          <c:order val="2"/>
          <c:tx>
            <c:strRef>
              <c:f>Sheet1!$D$1</c:f>
              <c:strCache>
                <c:ptCount val="1"/>
                <c:pt idx="0">
                  <c:v>Adam</c:v>
                </c:pt>
              </c:strCache>
            </c:strRef>
          </c:tx>
          <c:spPr>
            <a:ln w="31750">
              <a:solidFill>
                <a:srgbClr val="0B5394"/>
              </a:solidFill>
            </a:ln>
          </c:spPr>
          <c:marker>
            <c:spPr>
              <a:solidFill>
                <a:srgbClr val="0B5394"/>
              </a:solidFill>
            </c:spPr>
          </c:marker>
          <c:cat>
            <c:strRef>
              <c:f>Sheet1!$A$2:$A$6</c:f>
              <c:strCache>
                <c:ptCount val="5"/>
                <c:pt idx="0">
                  <c:v>0</c:v>
                </c:pt>
                <c:pt idx="1">
                  <c:v>5</c:v>
                </c:pt>
                <c:pt idx="2">
                  <c:v>10</c:v>
                </c:pt>
                <c:pt idx="3">
                  <c:v>15</c:v>
                </c:pt>
                <c:pt idx="4">
                  <c:v>20</c:v>
                </c:pt>
              </c:strCache>
            </c:strRef>
          </c:cat>
          <c:val>
            <c:numRef>
              <c:f>Sheet1!$D$2:$D$6</c:f>
              <c:numCache>
                <c:formatCode>General</c:formatCode>
                <c:ptCount val="5"/>
                <c:pt idx="0">
                  <c:v>10.2</c:v>
                </c:pt>
                <c:pt idx="1">
                  <c:v>96.3</c:v>
                </c:pt>
                <c:pt idx="2">
                  <c:v>97.0</c:v>
                </c:pt>
                <c:pt idx="3">
                  <c:v>97.2</c:v>
                </c:pt>
                <c:pt idx="4">
                  <c:v>97.2</c:v>
                </c:pt>
              </c:numCache>
            </c:numRef>
          </c:val>
          <c:smooth val="0"/>
        </c:ser>
        <c:ser>
          <c:idx val="3"/>
          <c:order val="3"/>
          <c:tx>
            <c:strRef>
              <c:f>Sheet1!$E$1</c:f>
              <c:strCache>
                <c:ptCount val="1"/>
                <c:pt idx="0">
                  <c:v>Adam+LR</c:v>
                </c:pt>
              </c:strCache>
            </c:strRef>
          </c:tx>
          <c:spPr>
            <a:ln w="31750">
              <a:solidFill>
                <a:srgbClr val="7A6BC7"/>
              </a:solidFill>
            </a:ln>
          </c:spPr>
          <c:marker>
            <c:spPr>
              <a:solidFill>
                <a:srgbClr val="7A6BC7"/>
              </a:solidFill>
            </c:spPr>
          </c:marker>
          <c:cat>
            <c:strRef>
              <c:f>Sheet1!$A$2:$A$6</c:f>
              <c:strCache>
                <c:ptCount val="5"/>
                <c:pt idx="0">
                  <c:v>0</c:v>
                </c:pt>
                <c:pt idx="1">
                  <c:v>5</c:v>
                </c:pt>
                <c:pt idx="2">
                  <c:v>10</c:v>
                </c:pt>
                <c:pt idx="3">
                  <c:v>15</c:v>
                </c:pt>
                <c:pt idx="4">
                  <c:v>20</c:v>
                </c:pt>
              </c:strCache>
            </c:strRef>
          </c:cat>
          <c:val>
            <c:numRef>
              <c:f>Sheet1!$E$2:$E$6</c:f>
              <c:numCache>
                <c:formatCode>General</c:formatCode>
                <c:ptCount val="5"/>
                <c:pt idx="0">
                  <c:v>10.2</c:v>
                </c:pt>
                <c:pt idx="1">
                  <c:v>96.3</c:v>
                </c:pt>
                <c:pt idx="2">
                  <c:v>96.9</c:v>
                </c:pt>
                <c:pt idx="3">
                  <c:v>97.0</c:v>
                </c:pt>
                <c:pt idx="4">
                  <c:v>97.0</c:v>
                </c:pt>
              </c:numCache>
            </c:numRef>
          </c:val>
          <c:smooth val="0"/>
        </c:ser>
        <c:ser>
          <c:idx val="4"/>
          <c:order val="4"/>
          <c:tx>
            <c:strRef>
              <c:f>Sheet1!$F$1</c:f>
              <c:strCache>
                <c:ptCount val="1"/>
                <c:pt idx="0">
                  <c:v>BN+Adam+LR</c:v>
                </c:pt>
              </c:strCache>
            </c:strRef>
          </c:tx>
          <c:spPr>
            <a:ln w="31750">
              <a:solidFill>
                <a:srgbClr val="B43B2E"/>
              </a:solidFill>
            </a:ln>
          </c:spPr>
          <c:marker>
            <c:spPr>
              <a:solidFill>
                <a:srgbClr val="B43B2E"/>
              </a:solidFill>
            </c:spPr>
          </c:marker>
          <c:cat>
            <c:strRef>
              <c:f>Sheet1!$A$2:$A$6</c:f>
              <c:strCache>
                <c:ptCount val="5"/>
                <c:pt idx="0">
                  <c:v>0</c:v>
                </c:pt>
                <c:pt idx="1">
                  <c:v>5</c:v>
                </c:pt>
                <c:pt idx="2">
                  <c:v>10</c:v>
                </c:pt>
                <c:pt idx="3">
                  <c:v>15</c:v>
                </c:pt>
                <c:pt idx="4">
                  <c:v>20</c:v>
                </c:pt>
              </c:strCache>
            </c:strRef>
          </c:cat>
          <c:val>
            <c:numRef>
              <c:f>Sheet1!$F$2:$F$6</c:f>
              <c:numCache>
                <c:formatCode>General</c:formatCode>
                <c:ptCount val="5"/>
                <c:pt idx="0">
                  <c:v>10.2</c:v>
                </c:pt>
                <c:pt idx="1">
                  <c:v>83.7</c:v>
                </c:pt>
                <c:pt idx="2">
                  <c:v>82.1</c:v>
                </c:pt>
                <c:pt idx="3">
                  <c:v>81.4</c:v>
                </c:pt>
                <c:pt idx="4">
                  <c:v>81.0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05.0"/>
          <c:min val="0.0"/>
        </c:scaling>
        <c:delete val="0"/>
        <c:axPos val="l"/>
        <c:majorGridlines>
          <c:spPr>
            <a:ln>
              <a:solidFill>
                <a:srgbClr val="E5E9EF"/>
              </a:solidFill>
            </a:ln>
          </c:spPr>
        </c:majorGridlines>
        <c:numFmt formatCode="0&quot;%&quot;" sourceLinked="0"/>
        <c:majorTickMark val="out"/>
        <c:minorTickMark val="none"/>
        <c:tickLblPos val="nextTo"/>
        <c:txPr>
          <a:bodyPr/>
          <a:lstStyle/>
          <a:p>
            <a:pPr>
              <a:defRPr sz="10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222B36"/>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GPU Utilization (%)</c:v>
                </c:pt>
              </c:strCache>
            </c:strRef>
          </c:tx>
          <c:spPr>
            <a:solidFill>
              <a:srgbClr val="0B5394"/>
            </a:solidFill>
          </c:spPr>
          <c:dPt>
            <c:idx val="0"/>
            <c:spPr>
              <a:solidFill>
                <a:srgbClr val="2E75D6"/>
              </a:solidFill>
            </c:spPr>
          </c:dPt>
          <c:dPt>
            <c:idx val="1"/>
            <c:spPr>
              <a:solidFill>
                <a:srgbClr val="2E75D6"/>
              </a:solidFill>
            </c:spPr>
          </c:dPt>
          <c:dPt>
            <c:idx val="2"/>
            <c:spPr>
              <a:solidFill>
                <a:srgbClr val="1E7A46"/>
              </a:solidFill>
            </c:spPr>
          </c:dPt>
          <c:dPt>
            <c:idx val="3"/>
            <c:spPr>
              <a:solidFill>
                <a:srgbClr val="B43B2E"/>
              </a:solidFill>
            </c:spPr>
          </c:dPt>
          <c:cat>
            <c:strRef>
              <c:f>Sheet1!$A$2:$A$5</c:f>
              <c:strCache>
                <c:ptCount val="4"/>
                <c:pt idx="0">
                  <c:v>512</c:v>
                </c:pt>
                <c:pt idx="1">
                  <c:v>1024</c:v>
                </c:pt>
                <c:pt idx="2">
                  <c:v>2048</c:v>
                </c:pt>
                <c:pt idx="3">
                  <c:v>4096</c:v>
                </c:pt>
              </c:strCache>
            </c:strRef>
          </c:cat>
          <c:val>
            <c:numRef>
              <c:f>Sheet1!$B$2:$B$5</c:f>
              <c:numCache>
                <c:formatCode>General</c:formatCode>
                <c:ptCount val="4"/>
                <c:pt idx="0">
                  <c:v>76</c:v>
                </c:pt>
                <c:pt idx="1">
                  <c:v>88</c:v>
                </c:pt>
                <c:pt idx="2">
                  <c:v>94</c:v>
                </c:pt>
                <c:pt idx="3">
                  <c:v>97</c:v>
                </c:pt>
              </c:numCache>
            </c:numRef>
          </c:val>
        </c:ser>
        <c:dLbls>
          <c:numFmt formatCode="0&quot;%&quot;" sourceLinked="0"/>
          <c:txPr>
            <a:bodyPr/>
            <a:lstStyle/>
            <a:p>
              <a:pPr>
                <a:defRPr sz="1200" b="1">
                  <a:solidFill>
                    <a:srgbClr val="0B2A4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C0AF"/>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solidFill>
            <a:srgbClr val="222B36"/>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morning/afternoon. My name is [your name], and together with my co-authors Chiranth R and Dr. Pavithra N from Manipal Institute of Technology, I'm presenting CUDAnet — a neural network training engine we built entirely from scratch in CUDA C, with zero dependency on frameworks like PyTorch or TensorFlow. In the next few minutes I'll show you a subtle bug we found in how GPUs parallelize modern optimizers, and the fix we designed for it.</a:t>
            </a:r>
          </a:p>
          <a:p>
            <a:r>
              <a:t>----------------------------------------------</a:t>
            </a:r>
          </a:p>
          <a:p>
            <a:r>
              <a:t>EXPECTED TIME: 15 seconds</a:t>
            </a:r>
          </a:p>
          <a:p>
            <a:r>
              <a:t>----------------------------------------------</a:t>
            </a:r>
          </a:p>
          <a:p>
            <a:r>
              <a:t>LIKELY QUESTION: Almost never questioned at the title slide.</a:t>
            </a:r>
          </a:p>
          <a:p>
            <a:r>
              <a:t>BEST ANSWER: Smile, make eye contact, and move straight into Motivation — don't wait for a reaction.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start with why this problem exists. When you train a neural network on a GPU, you split your mini-batch across thousands of GPU threads — one tiny independent worker per training image. That part is embarrassingly parallel, completely safe. But Momentum and Adam are not stateless — they keep a running memory, velocity for Momentum, moment estimates for Adam, that carries over from one step to the next. All two thousand threads want to update that same shared memory at the same time. That's where things quietly go wrong.</a:t>
            </a:r>
          </a:p>
          <a:p>
            <a:r>
              <a:t>----------------------------------------------</a:t>
            </a:r>
          </a:p>
          <a:p>
            <a:r>
              <a:t>EXPECTED TIME: 35 seconds</a:t>
            </a:r>
          </a:p>
          <a:p>
            <a:r>
              <a:t>----------------------------------------------</a:t>
            </a:r>
          </a:p>
          <a:p>
            <a:r>
              <a:t>LIKELY QUESTION: What is a race condition, in one sentence?</a:t>
            </a:r>
          </a:p>
          <a:p>
            <a:r>
              <a:t>BEST ANSWER: Two or more threads read and write the same memory at the same time with no ordering, so one thread's contribution can be silently erased by another's.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Here's the precise shape of the failure. Thread i reads the shared velocity value, computes its own updated version using its own gradient, and writes it back. Thread j does the exact same thing, at almost the same instant, using the same old velocity it read a moment ago. Whichever thread writes last simply overwrites the other — not delays it, erases it.</a:t>
            </a:r>
          </a:p>
          <a:p>
            <a:r>
              <a:t>----------------------------------------------</a:t>
            </a:r>
          </a:p>
          <a:p>
            <a:r>
              <a:t>EXPECTED TIME: 35 seconds</a:t>
            </a:r>
          </a:p>
          <a:p>
            <a:r>
              <a:t>----------------------------------------------</a:t>
            </a:r>
          </a:p>
          <a:p>
            <a:r>
              <a:t>LIKELY QUESTION: Isn't this just a normal CPU threading problem?</a:t>
            </a:r>
          </a:p>
          <a:p>
            <a:r>
              <a:t>BEST ANSWER: Same underlying hazard, but a different scale — a CPU might have 16 threads racing, here we have 2,048, and a GPU offers no cross-block synchronization primitive mid-kernel, so the exposure is both bigger and harder to guard against.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isn't the first paper to accelerate neural network training with hand-written CUDA kernels. Wang et al. reported a 17x inference speedup, Rao et al. 487x for backpropagation, Zhao et al. 110x with 97.2% MNIST accuracy — genuinely impressive engineering. But every one of these only parallelizes the stateless parts. None puts a stateful optimizer like Adam inside a per-sample GPU kernel, so this race condition never had a chance to surface. Frameworks avoid it by construction, which means nobody using one ever sees why the naive version would be wrong.</a:t>
            </a:r>
          </a:p>
          <a:p>
            <a:r>
              <a:t>----------------------------------------------</a:t>
            </a:r>
          </a:p>
          <a:p>
            <a:r>
              <a:t>EXPECTED TIME: 30 seconds</a:t>
            </a:r>
          </a:p>
          <a:p>
            <a:r>
              <a:t>----------------------------------------------</a:t>
            </a:r>
          </a:p>
          <a:p>
            <a:r>
              <a:t>LIKELY QUESTION: How is this different from PyTorch's optimizer.step()?</a:t>
            </a:r>
          </a:p>
          <a:p>
            <a:r>
              <a:t>BEST ANSWER: Conceptually the same shape — separate the gradient phase from the state-update phase. Our contribution is making that separation explicit and proving with real numbers what breaks if you skip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Lay it out as a 2 by 2: stateless versus stateful optimizers, on one axis; framework-level versus custom CUDA kernels, on the other. Every prior result sits in the top row, or hides the mechanism entirely. Nobody has explicitly parallelized a stateful optimizer inside a custom, per-sample GPU kernel and shown you exactly why the naive version breaks. That empty bottom-right cell is exactly where this paper sits.</a:t>
            </a:r>
          </a:p>
          <a:p>
            <a:r>
              <a:t>----------------------------------------------</a:t>
            </a:r>
          </a:p>
          <a:p>
            <a:r>
              <a:t>EXPECTED TIME: 25 seconds</a:t>
            </a:r>
          </a:p>
          <a:p>
            <a:r>
              <a:t>----------------------------------------------</a:t>
            </a:r>
          </a:p>
          <a:p>
            <a:r>
              <a:t>LIKELY QUESTION: Isn't this a narrow, incremental gap?</a:t>
            </a:r>
          </a:p>
          <a:p>
            <a:r>
              <a:t>BEST ANSWER: It's narrow by design — narrow enough to prove rigorously with a clean before/after experiment, which is exactly what makes the 0% to 97.2% recovery a clean, defensible result rather than a vague claim.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fix doesn't add locks, doesn't add warp-level tricks, and doesn't tolerate stale data. It changes who owns what memory, at two different points in the batch. Phase 1: every thread may only add to shared memory — safe, because addition commutes. Phase 2, after a hardware barrier: one thread per weight runs the full optimizer formula alone, with zero concurrent writers.</a:t>
            </a:r>
          </a:p>
          <a:p>
            <a:r>
              <a:t>----------------------------------------------</a:t>
            </a:r>
          </a:p>
          <a:p>
            <a:r>
              <a:t>EXPECTED TIME: 30 seconds</a:t>
            </a:r>
          </a:p>
          <a:p>
            <a:r>
              <a:t>----------------------------------------------</a:t>
            </a:r>
          </a:p>
          <a:p>
            <a:r>
              <a:t>LIKELY QUESTION: Is this the paper's main contribution?</a:t>
            </a:r>
          </a:p>
          <a:p>
            <a:r>
              <a:t>BEST ANSWER: Yes — everything else in the talk either motivates this idea or validates it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Here's the system: a fully configurable multi-layer perceptron, shown in its default MNIST configuration — 784 input pixels, two hidden layers of 128 ReLU neurons with optional batch normalization, and a 10-way softmax output. Every weight and bias lives in one flat array, addressed by precomputed offsets rather than pointers.</a:t>
            </a:r>
          </a:p>
          <a:p>
            <a:r>
              <a:t>----------------------------------------------</a:t>
            </a:r>
          </a:p>
          <a:p>
            <a:r>
              <a:t>EXPECTED TIME: 40 seconds</a:t>
            </a:r>
          </a:p>
          <a:p>
            <a:r>
              <a:t>----------------------------------------------</a:t>
            </a:r>
          </a:p>
          <a:p>
            <a:r>
              <a:t>LIKELY QUESTION: Why an MLP and not a CNN for MNIST?</a:t>
            </a:r>
          </a:p>
          <a:p>
            <a:r>
              <a:t>BEST ANSWER: Deliberate — an MLP isolates the parallel-correctness question from convolutional complexity. This is a systems result, not an accuracy leaderboard entry.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At the highest level, one training step moves through five stages: initialize the batch, forward propagate, compute the loss, backpropagate, and update the parameters. Every one of these runs as one or more GPU kernels. The stage that matters for this talk is the last one — Update — which is exactly where our two-phase split lives.</a:t>
            </a:r>
          </a:p>
          <a:p>
            <a:r>
              <a:t>----------------------------------------------</a:t>
            </a:r>
          </a:p>
          <a:p>
            <a:r>
              <a:t>EXPECTED TIME: 30 seconds</a:t>
            </a:r>
          </a:p>
          <a:p>
            <a:r>
              <a:t>----------------------------------------------</a:t>
            </a:r>
          </a:p>
          <a:p>
            <a:r>
              <a:t>LIKELY QUESTION: How many kernel launches happen per mini-batch?</a:t>
            </a:r>
          </a:p>
          <a:p>
            <a:r>
              <a:t>BEST ANSWER: Around ten in the batch-normalization pipeline, two in the simpler non-BN path — detailed on the Kernel Flow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the name to remember: Two-Phase Gradient Accumulation. Many threads are allowed to contribute to a sum — that's always safe, because addition doesn't care about order. But only one thread is ever allowed to touch a given weight's optimizer state — that's what makes the update itself race-free.</a:t>
            </a:r>
          </a:p>
          <a:p>
            <a:r>
              <a:t>----------------------------------------------</a:t>
            </a:r>
          </a:p>
          <a:p>
            <a:r>
              <a:t>EXPECTED TIME: 35 seconds</a:t>
            </a:r>
          </a:p>
          <a:p>
            <a:r>
              <a:t>----------------------------------------------</a:t>
            </a:r>
          </a:p>
          <a:p>
            <a:r>
              <a:t>LIKELY QUESTION: Does 2PGA generalize beyond Momentum and Adam?</a:t>
            </a:r>
          </a:p>
          <a:p>
            <a:r>
              <a:t>BEST ANSWER: Yes — any optimizer with cross-step state, RMSProp, LAMB, Adagrad, has the identical failure mode and the identical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Here's the mechanical root cause. atomicAdd only guarantees that one addition is indivisible. But the Momentum formula is read the old velocity, multiply by beta, add the gradient, write back — several separate steps. An atomic protects one step, not the whole sequence, so the read and the write can still be split apart by another thread's operation happening in between.</a:t>
            </a:r>
          </a:p>
          <a:p>
            <a:r>
              <a:t>----------------------------------------------</a:t>
            </a:r>
          </a:p>
          <a:p>
            <a:r>
              <a:t>EXPECTED TIME: 40 seconds</a:t>
            </a:r>
          </a:p>
          <a:p>
            <a:r>
              <a:t>----------------------------------------------</a:t>
            </a:r>
          </a:p>
          <a:p>
            <a:r>
              <a:t>LIKELY QUESTION: Why doesn't atomicAdd already fix this?</a:t>
            </a:r>
          </a:p>
          <a:p>
            <a:r>
              <a:t>BEST ANSWER: Because it only makes the add itself indivisible, not the multi-step read-modify-write formula built around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SGD is the control case. It has no velocity, no moments — nothing to corrupt. Every update is just this batch's gradient applied directly, and summing gradients is commutative, so atomicAdd on its own is already completely correct. This is exactly why the bug is easy to miss: if you test SGD first, everything looks fine.</a:t>
            </a:r>
          </a:p>
          <a:p>
            <a:r>
              <a:t>----------------------------------------------</a:t>
            </a:r>
          </a:p>
          <a:p>
            <a:r>
              <a:t>EXPECTED TIME: 20 seconds</a:t>
            </a:r>
          </a:p>
          <a:p>
            <a:r>
              <a:t>----------------------------------------------</a:t>
            </a:r>
          </a:p>
          <a:p>
            <a:r>
              <a:t>LIKELY QUESTION: Does SGD ever need the two-phase split?</a:t>
            </a:r>
          </a:p>
          <a:p>
            <a:r>
              <a:t>BEST ANSWER: No — it's included specifically as the control that proves the fix targets exactly the stateful optimizers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When we naively write the Momentum update per-sample, every one of 2,048 threads races on the same velocity buffer. The result is not subtle: accuracy collapses from 97.2 percent to 0.0 percent — indistinguishable from a network that was never trained at all.</a:t>
            </a:r>
          </a:p>
          <a:p>
            <a:r>
              <a:t>----------------------------------------------</a:t>
            </a:r>
          </a:p>
          <a:p>
            <a:r>
              <a:t>EXPECTED TIME: 30 seconds</a:t>
            </a:r>
          </a:p>
          <a:p>
            <a:r>
              <a:t>----------------------------------------------</a:t>
            </a:r>
          </a:p>
          <a:p>
            <a:r>
              <a:t>LIKELY QUESTION: How did you first notice something was wrong?</a:t>
            </a:r>
          </a:p>
          <a:p>
            <a:r>
              <a:t>BEST ANSWER: The signature was unmistakable — exactly random-guessing accuracy on a 10-class problem, while the code and loss curve looked superficially normal.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Adam maintains two state buffers instead of one — a first moment and a second moment estimate. The exact same race happens on both simultaneously, and the empirical outcome is identical: 97.2 percent collapses to 0.0 percent.</a:t>
            </a:r>
          </a:p>
          <a:p>
            <a:r>
              <a:t>----------------------------------------------</a:t>
            </a:r>
          </a:p>
          <a:p>
            <a:r>
              <a:t>EXPECTED TIME: 25 seconds</a:t>
            </a:r>
          </a:p>
          <a:p>
            <a:r>
              <a:t>----------------------------------------------</a:t>
            </a:r>
          </a:p>
          <a:p>
            <a:r>
              <a:t>LIKELY QUESTION: Does the second moment buffer make Adam more fragile than Momentum?</a:t>
            </a:r>
          </a:p>
          <a:p>
            <a:r>
              <a:t>BEST ANSWER: Not more fragile — equally broken. One corrupted state buffer already destroys training; a second one doesn't make the outcome worse than 0 percent, it's the same failure mode twice over.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fix changes who owns what memory, at two points in the batch. Phase 1: every thread still runs in parallel, but the only thing it does to shared memory is add a number to it — safe, because addition is commutative. After a single hardware synchronization barrier, Phase 2 launches with one thread per weight. Thread k touches weight k and nothing else — the full Momentum or Adam formula runs exactly once, with zero concurrent writers. I want to stress: this is not slower mini-batch SGD in disguise. Phase 1 already produced the correct summed gradient before and after the fix; the entire fix lives in Phase 2 alone.</a:t>
            </a:r>
          </a:p>
          <a:p>
            <a:r>
              <a:t>----------------------------------------------</a:t>
            </a:r>
          </a:p>
          <a:p>
            <a:r>
              <a:t>EXPECTED TIME: 40 seconds</a:t>
            </a:r>
          </a:p>
          <a:p>
            <a:r>
              <a:t>----------------------------------------------</a:t>
            </a:r>
          </a:p>
          <a:p>
            <a:r>
              <a:t>LIKELY QUESTION 1: Doesn't the synchronization barrier cost performance?</a:t>
            </a:r>
          </a:p>
          <a:p>
            <a:r>
              <a:t>BEST ANSWER: Measurably but small — for our 128x128 network, Phase 2 touches about 18,000 weights and finishes in under 0.01 ms, under half a percent of one epoch's time.</a:t>
            </a:r>
          </a:p>
          <a:p>
            <a:r>
              <a:t>----------------------------------------------</a:t>
            </a:r>
          </a:p>
          <a:p>
            <a:r>
              <a:t>LIKELY QUESTION 2: Why not just use a lock instead?</a:t>
            </a:r>
          </a:p>
          <a:p>
            <a:r>
              <a:t>BEST ANSWER: A lock would serialize thousands of threads contending on the same address — a severe throughput bottleneck. 2PGA removes the contention structurally instead of arbitrating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In the batch-normalization build, one mini-batch touches roughly ten kernel launches — shown here as two parallel chains, forward on the left, backward and update on the right. Every transition that needs every sample's data first — the batch-statistics kernels — is preceded by an explicit synchronization barrier.</a:t>
            </a:r>
          </a:p>
          <a:p>
            <a:r>
              <a:t>----------------------------------------------</a:t>
            </a:r>
          </a:p>
          <a:p>
            <a:r>
              <a:t>EXPECTED TIME: 30 seconds</a:t>
            </a:r>
          </a:p>
          <a:p>
            <a:r>
              <a:t>----------------------------------------------</a:t>
            </a:r>
          </a:p>
          <a:p>
            <a:r>
              <a:t>LIKELY QUESTION: Why not fuse these into fewer kernels?</a:t>
            </a:r>
          </a:p>
          <a:p>
            <a:r>
              <a:t>BEST ANSWER: Kernel fusion — folding Linear, BN, and ReLU into one launch — is exactly what we list as future work; today's staged design favors correctness and clarity over minimizing launch count.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Every weight, bias, activation, and delta lives in one contiguous flat array, addressed by precomputed offsets rather than pointers — friendlier to a GPU's memory system. The dataset dominates the footprint: it's uploaded once and stays resident in VRAM for the entire run, which is a big part of why our GPU numbers look so favorable against a CPU baseline that re-reads data every epoch.</a:t>
            </a:r>
          </a:p>
          <a:p>
            <a:r>
              <a:t>----------------------------------------------</a:t>
            </a:r>
          </a:p>
          <a:p>
            <a:r>
              <a:t>EXPECTED TIME: 25 seconds</a:t>
            </a:r>
          </a:p>
          <a:p>
            <a:r>
              <a:t>----------------------------------------------</a:t>
            </a:r>
          </a:p>
          <a:p>
            <a:r>
              <a:t>LIKELY QUESTION: What is CUDAnet's peak VRAM usage in total?</a:t>
            </a:r>
          </a:p>
          <a:p>
            <a:r>
              <a:t>BEST ANSWER: About 470 KB for parameters alone, but roughly 250 MB once the resident training set is included — still 500 times smaller than a comparable PyTorch setup.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Batch normalization needs the mean and variance of a neuron across the entire batch, so every one of 2,048 samples' values must already be written before anyone reads them. A single kernel launch can't guarantee that, so we broke the forward pass into a staged pipeline — linear, synchronize, compute statistics, apply, activate — mirrored going backward.</a:t>
            </a:r>
          </a:p>
          <a:p>
            <a:r>
              <a:t>----------------------------------------------</a:t>
            </a:r>
          </a:p>
          <a:p>
            <a:r>
              <a:t>EXPECTED TIME: 35 seconds</a:t>
            </a:r>
          </a:p>
          <a:p>
            <a:r>
              <a:t>----------------------------------------------</a:t>
            </a:r>
          </a:p>
          <a:p>
            <a:r>
              <a:t>LIKELY QUESTION: Why not synchronize once at the end instead of per layer?</a:t>
            </a:r>
          </a:p>
          <a:p>
            <a:r>
              <a:t>BEST ANSWER: Each hidden layer's statistics depend on the previous layer already being fully normalized and activated — the dependency is layer by layer, so the barrier has to be too.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We support step decay, exponential decay, and cosine annealing, chosen at compile time. One implementation detail mattered far more than expected: whether to index the schedule by gradient step or by epoch. Indexing by epoch compresses the whole decay into 23 times fewer steps than intended and collapses accuracy before the network converges — indexing by global step fixes it.</a:t>
            </a:r>
          </a:p>
          <a:p>
            <a:r>
              <a:t>----------------------------------------------</a:t>
            </a:r>
          </a:p>
          <a:p>
            <a:r>
              <a:t>EXPECTED TIME: 20 seconds</a:t>
            </a:r>
          </a:p>
          <a:p>
            <a:r>
              <a:t>----------------------------------------------</a:t>
            </a:r>
          </a:p>
          <a:p>
            <a:r>
              <a:t>LIKELY QUESTION: Why does the indexing choice matter so much?</a:t>
            </a:r>
          </a:p>
          <a:p>
            <a:r>
              <a:t>BEST ANSWER: With 23 mini-batches per epoch, indexing by epoch instead of by step means the learning rate decays 23 times faster than the schedule's formula intends — the network barely gets a chance to train before the rate collapses toward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Quickly, on methodology: standard MNIST, an 80/20 split carving out 12,000 validation images, so every epoch is a genuine full pass over 48,000 training samples in 23 mini-batches. All experiments use the same two-hidden-layer, 128-neuron network, Xavier initialization, and a fixed seed for reproducibility.</a:t>
            </a:r>
          </a:p>
          <a:p>
            <a:r>
              <a:t>----------------------------------------------</a:t>
            </a:r>
          </a:p>
          <a:p>
            <a:r>
              <a:t>EXPECTED TIME: 25 seconds</a:t>
            </a:r>
          </a:p>
          <a:p>
            <a:r>
              <a:t>----------------------------------------------</a:t>
            </a:r>
          </a:p>
          <a:p>
            <a:r>
              <a:t>LIKELY QUESTION: Only one seed — how confident are you in these numbers?</a:t>
            </a:r>
          </a:p>
          <a:p>
            <a:r>
              <a:t>BEST ANSWER: Single-GPU, single-seed, and we say so directly in our limitations. What's not seed-sensitive is the qualitative result — the same code moving from 0% to 97% by changing only the parallelization strategy.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All experiments ran on a single NVIDIA RTX A2000 with 12 gigabytes of memory, Ampere architecture, 3,328 CUDA cores, 448 gigabytes per second of memory bandwidth, compiled with nvcc and g++-12.</a:t>
            </a:r>
          </a:p>
          <a:p>
            <a:r>
              <a:t>----------------------------------------------</a:t>
            </a:r>
          </a:p>
          <a:p>
            <a:r>
              <a:t>EXPECTED TIME: 15 seconds</a:t>
            </a:r>
          </a:p>
          <a:p>
            <a:r>
              <a:t>----------------------------------------------</a:t>
            </a:r>
          </a:p>
          <a:p>
            <a:r>
              <a:t>LIKELY QUESTION: Would results differ meaningfully on a different GPU generation?</a:t>
            </a:r>
          </a:p>
          <a:p>
            <a:r>
              <a:t>BEST ANSWER: Absolute timings would shift, but the qualitative correctness story — the race condition and its fix — is architecture-independent; it follows from CUDA's execution model, not this specific card.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Three numbers to leave in the room. Zero to ninety-seven point two — the two-phase fix working exactly as claimed. Twenty-two-hundred times faster than a serial CPU baseline. And a binary under two megabytes with no framework dependency at all.</a:t>
            </a:r>
          </a:p>
          <a:p>
            <a:r>
              <a:t>----------------------------------------------</a:t>
            </a:r>
          </a:p>
          <a:p>
            <a:r>
              <a:t>EXPECTED TIME: 35 seconds</a:t>
            </a:r>
          </a:p>
          <a:p>
            <a:r>
              <a:t>----------------------------------------------</a:t>
            </a:r>
          </a:p>
          <a:p>
            <a:r>
              <a:t>LIKELY QUESTION: Which of these three is most important?</a:t>
            </a:r>
          </a:p>
          <a:p>
            <a:r>
              <a:t>BEST ANSWER: The first — the 0% to 97.2% recovery is the paper's actual contribution; the other two are validation that the resulting system is also fast and practical.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serial CPU baseline takes about 2,070 seconds per epoch; every CUDA configuration finishes in roughly one second. SGD's 0.94 seconds is a 2,202-times speedup, and even our heaviest configuration still holds a 1,669-times speedup.</a:t>
            </a:r>
          </a:p>
          <a:p>
            <a:r>
              <a:t>----------------------------------------------</a:t>
            </a:r>
          </a:p>
          <a:p>
            <a:r>
              <a:t>EXPECTED TIME: 30 seconds</a:t>
            </a:r>
          </a:p>
          <a:p>
            <a:r>
              <a:t>----------------------------------------------</a:t>
            </a:r>
          </a:p>
          <a:p>
            <a:r>
              <a:t>LIKELY QUESTION: Is the CPU baseline a fair comparison?</a:t>
            </a:r>
          </a:p>
          <a:p>
            <a:r>
              <a:t>BEST ANSWER: We measured a completed 20-epoch serial run to verify this — it averages about 2,070 seconds per epoch, matching our original projection almost exactly, so these speedups hold up against a real completed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Momentum and Adam are statistically tied at 97.2 percent, both about 3 points above plain SGD. BN+SGD sits close behind SGD. BN+Adam+LR is the clear outlier at 81 percent — I'll explain exactly why on the next couple of slides.</a:t>
            </a:r>
          </a:p>
          <a:p>
            <a:r>
              <a:t>----------------------------------------------</a:t>
            </a:r>
          </a:p>
          <a:p>
            <a:r>
              <a:t>EXPECTED TIME: 30 seconds</a:t>
            </a:r>
          </a:p>
          <a:p>
            <a:r>
              <a:t>----------------------------------------------</a:t>
            </a:r>
          </a:p>
          <a:p>
            <a:r>
              <a:t>LIKELY QUESTION: Why include BN+Adam+LR if it's your worst result?</a:t>
            </a:r>
          </a:p>
          <a:p>
            <a:r>
              <a:t>BEST ANSWER: Because the contribution isn't 'this configuration is best' — it's the two-phase mechanism, which every configuration here depends on equally.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Adam and Adam+LR are within about a point of their final accuracy by epoch 5. The one curve that matters most here is BN+Adam+LR — it peaks early at 88.1 percent around epoch 2, and then steadily declines. That shape is the signature of instability, not slow convergence.</a:t>
            </a:r>
          </a:p>
          <a:p>
            <a:r>
              <a:t>----------------------------------------------</a:t>
            </a:r>
          </a:p>
          <a:p>
            <a:r>
              <a:t>EXPECTED TIME: 30 seconds</a:t>
            </a:r>
          </a:p>
          <a:p>
            <a:r>
              <a:t>----------------------------------------------</a:t>
            </a:r>
          </a:p>
          <a:p>
            <a:r>
              <a:t>LIKELY QUESTION: What's your leading hypothesis for that decline?</a:t>
            </a:r>
          </a:p>
          <a:p>
            <a:r>
              <a:t>BEST ANSWER: An interaction between Adam's evolving moment estimates and batch norm's evolving statistics — two different kinds of memory that may be working against each other. We flag it as future work, not a solved problem.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Four contributions: the two-phase gradient accumulation pattern itself; a correct, synchronized CUDA implementation of batch normalization; a genuinely tiny, dependency-free engine validated against PyTorch for edge use; and an empirical, reproducible demonstration — not just a theoretical correctness argument.</a:t>
            </a:r>
          </a:p>
          <a:p>
            <a:r>
              <a:t>----------------------------------------------</a:t>
            </a:r>
          </a:p>
          <a:p>
            <a:r>
              <a:t>EXPECTED TIME: 25 seconds</a:t>
            </a:r>
          </a:p>
          <a:p>
            <a:r>
              <a:t>----------------------------------------------</a:t>
            </a:r>
          </a:p>
          <a:p>
            <a:r>
              <a:t>LIKELY QUESTION: Which contribution would you defend hardest under challenge?</a:t>
            </a:r>
          </a:p>
          <a:p>
            <a:r>
              <a:t>BEST ANSWER: The first — 2PGA — it's general, it's cheap, and it's backed by a clean, reproducible before/after number.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Being upfront: our MLP trails CNN-level accuracy by design; BN+Adam+LR is a genuinely unresolved instability, not a solved footnote; this is a single-GPU, single-seed study; and Phase 2's synchronization overhead does grow with batch size beyond a point.</a:t>
            </a:r>
          </a:p>
          <a:p>
            <a:r>
              <a:t>----------------------------------------------</a:t>
            </a:r>
          </a:p>
          <a:p>
            <a:r>
              <a:t>EXPECTED TIME: 25 seconds</a:t>
            </a:r>
          </a:p>
          <a:p>
            <a:r>
              <a:t>----------------------------------------------</a:t>
            </a:r>
          </a:p>
          <a:p>
            <a:r>
              <a:t>LIKELY QUESTION: Doesn't listing this many limitations weaken the paper?</a:t>
            </a:r>
          </a:p>
          <a:p>
            <a:r>
              <a:t>BEST ANSWER: The opposite — a systems paper that hides its rough edges loses credibility faster than one that names them precisely.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Three directions: wiring up true Tensor Core kernels for another 2 to 3 times throughput; adding convolutional layers via im2col to push past MNIST toward CIFAR-10; and scaling across multiple GPUs with NCCL, which importantly requires no change to the core 2PGA correctness argument.</a:t>
            </a:r>
          </a:p>
          <a:p>
            <a:r>
              <a:t>----------------------------------------------</a:t>
            </a:r>
          </a:p>
          <a:p>
            <a:r>
              <a:t>EXPECTED TIME: 20 seconds</a:t>
            </a:r>
          </a:p>
          <a:p>
            <a:r>
              <a:t>----------------------------------------------</a:t>
            </a:r>
          </a:p>
          <a:p>
            <a:r>
              <a:t>LIKELY QUESTION: Which of these is most immediately achievable?</a:t>
            </a:r>
          </a:p>
          <a:p>
            <a:r>
              <a:t>BEST ANSWER: Tensor Cores — the true WMMA kernels already exist in our source; they just need to be wired into the default build and benchmarked.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 conclude: we identified a genuine, silent correctness bug in how stateful optimizers get parallelized on GPUs, we fixed it with a general two-phase accumulation pattern costing under half a percent of runtime, and we validated it end to end on real hardware.</a:t>
            </a:r>
          </a:p>
          <a:p>
            <a:r>
              <a:t>----------------------------------------------</a:t>
            </a:r>
          </a:p>
          <a:p>
            <a:r>
              <a:t>EXPECTED TIME: 25 seconds</a:t>
            </a:r>
          </a:p>
          <a:p>
            <a:r>
              <a:t>----------------------------------------------</a:t>
            </a:r>
          </a:p>
          <a:p>
            <a:r>
              <a:t>LIKELY QUESTION: What's the one takeaway you want us to leave with?</a:t>
            </a:r>
          </a:p>
          <a:p>
            <a:r>
              <a:t>BEST ANSWER: That parallel correctness is not the same as sequential correctness — and Two-Phase Gradient Accumulation is a general, low-cost pattern for any stateful optimizer running across thousands of GPU threads.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Thank you — I'm happy to take questions.</a:t>
            </a:r>
          </a:p>
          <a:p>
            <a:r>
              <a:t>----------------------------------------------</a:t>
            </a:r>
          </a:p>
          <a:p>
            <a:r>
              <a:t>EXPECTED TIME: 10 seconds</a:t>
            </a:r>
          </a:p>
          <a:p>
            <a:r>
              <a:t>----------------------------------------------</a:t>
            </a:r>
          </a:p>
          <a:p>
            <a:r>
              <a:t>LIKELY QUESTION: (General) Where can we find the code / paper?</a:t>
            </a:r>
          </a:p>
          <a:p>
            <a:r>
              <a:t>BEST ANSWER: Point to your institutional repository or paper DOI if you have one ready to state.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divider signals to the panel (and to you) that everything after this point is reserve material — only advance here if a question calls for it.</a:t>
            </a:r>
          </a:p>
          <a:p>
            <a:r>
              <a:t>----------------------------------------------</a:t>
            </a:r>
          </a:p>
          <a:p>
            <a:r>
              <a:t>EXPECTED TIME: not part of the timed talk</a:t>
            </a:r>
          </a:p>
          <a:p>
            <a:r>
              <a:t>----------------------------------------------</a:t>
            </a:r>
          </a:p>
          <a:p>
            <a:r>
              <a:t>LIKELY QUESTION: Should I present these slides unless asked?</a:t>
            </a:r>
          </a:p>
          <a:p>
            <a:r>
              <a:t>BEST ANSWER: No — keep them ready but skip past this divider by default; jump to a specific backup slide only if a question calls for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PyTorch is faster per epoch and slightly more accurate, thanks to cuBLAS and cuDNN under the hood — we're not claiming otherwise. What matters for edge deployment is the right side of this table: a 527-times smaller VRAM footprint and a 900-times smaller install size.</a:t>
            </a:r>
          </a:p>
          <a:p>
            <a:r>
              <a:t>----------------------------------------------</a:t>
            </a:r>
          </a:p>
          <a:p>
            <a:r>
              <a:t>EXPECTED TIME: backup — use if asked about edge deployment</a:t>
            </a:r>
          </a:p>
          <a:p>
            <a:r>
              <a:t>----------------------------------------------</a:t>
            </a:r>
          </a:p>
          <a:p>
            <a:r>
              <a:t>LIKELY QUESTION: Have you deployed this on an actual edge device like a Jetson?</a:t>
            </a:r>
          </a:p>
          <a:p>
            <a:r>
              <a:t>BEST ANSWER: Not yet in this paper — that's the next validation step; this comparison is measured on the same development GPU for both systems.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GPU utilization keeps climbing through 4,096, but epoch time also grows about 17% from 2,048 to 4,096 due to Phase-2 synchronization overhead — 2,048 is our practical operating point on this GPU.</a:t>
            </a:r>
          </a:p>
          <a:p>
            <a:r>
              <a:t>----------------------------------------------</a:t>
            </a:r>
          </a:p>
          <a:p>
            <a:r>
              <a:t>EXPECTED TIME: backup — use if asked about batch size choice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If asked directly: the WMMA kernels are implemented but not yet wired into the default build; validating that path is one of our concrete next steps. This is not a claim we make in the paper — it's an honest, ready answer if a sharp reviewer asks.</a:t>
            </a:r>
          </a:p>
          <a:p>
            <a:r>
              <a:t>----------------------------------------------</a:t>
            </a:r>
          </a:p>
          <a:p>
            <a:r>
              <a:t>EXPECTED TIME: backup — only if asked directly about Tensor Cores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catch if asked — our current implementation ties the bias-correction step to the epoch counter rather than the mini-batch counter. It's a bookkeeping detail we're aware of and plan to align with the canonical formulation; it does not affect the race-condition argument at all.</a:t>
            </a:r>
          </a:p>
          <a:p>
            <a:r>
              <a:t>----------------------------------------------</a:t>
            </a:r>
          </a:p>
          <a:p>
            <a:r>
              <a:t>EXPECTED TIME: backup — only if a very sharp technical question lands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a:t>
            </a:r>
          </a:p>
        </p:txBody>
      </p:sp>
      <p:sp>
        <p:nvSpPr>
          <p:cNvPr id="5" name="Rectangle 4"/>
          <p:cNvSpPr/>
          <p:nvPr/>
        </p:nvSpPr>
        <p:spPr>
          <a:xfrm>
            <a:off x="0" y="2331720"/>
            <a:ext cx="12191695" cy="233172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14600"/>
            <a:ext cx="10515600" cy="365760"/>
          </a:xfrm>
          <a:prstGeom prst="rect">
            <a:avLst/>
          </a:prstGeom>
          <a:noFill/>
        </p:spPr>
        <p:txBody>
          <a:bodyPr wrap="square">
            <a:spAutoFit/>
          </a:bodyPr>
          <a:lstStyle/>
          <a:p>
            <a:pPr algn="l"/>
            <a:r>
              <a:rPr sz="1400" b="1" i="0">
                <a:solidFill>
                  <a:srgbClr val="2E75D6"/>
                </a:solidFill>
                <a:latin typeface="Segoe UI"/>
              </a:rPr>
              <a:t>IEEE CONFERENCE PRESENTATION</a:t>
            </a:r>
          </a:p>
        </p:txBody>
      </p:sp>
      <p:sp>
        <p:nvSpPr>
          <p:cNvPr id="7" name="TextBox 6"/>
          <p:cNvSpPr txBox="1"/>
          <p:nvPr/>
        </p:nvSpPr>
        <p:spPr>
          <a:xfrm>
            <a:off x="777240" y="2880360"/>
            <a:ext cx="10607040" cy="1188720"/>
          </a:xfrm>
          <a:prstGeom prst="rect">
            <a:avLst/>
          </a:prstGeom>
          <a:noFill/>
        </p:spPr>
        <p:txBody>
          <a:bodyPr wrap="none">
            <a:spAutoFit/>
          </a:bodyPr>
          <a:lstStyle/>
          <a:p>
            <a:r>
              <a:rPr sz="6000" b="1">
                <a:solidFill>
                  <a:srgbClr val="0B2A4A"/>
                </a:solidFill>
                <a:latin typeface="Segoe UI Semibold"/>
              </a:rPr>
              <a:t>CUDAnet</a:t>
            </a:r>
          </a:p>
        </p:txBody>
      </p:sp>
      <p:sp>
        <p:nvSpPr>
          <p:cNvPr id="8" name="TextBox 7"/>
          <p:cNvSpPr txBox="1"/>
          <p:nvPr/>
        </p:nvSpPr>
        <p:spPr>
          <a:xfrm>
            <a:off x="822960" y="3794760"/>
            <a:ext cx="10424160" cy="822960"/>
          </a:xfrm>
          <a:prstGeom prst="rect">
            <a:avLst/>
          </a:prstGeom>
          <a:noFill/>
        </p:spPr>
        <p:txBody>
          <a:bodyPr wrap="none">
            <a:spAutoFit/>
          </a:bodyPr>
          <a:lstStyle/>
          <a:p>
            <a:r>
              <a:rPr sz="2000">
                <a:solidFill>
                  <a:srgbClr val="222B36"/>
                </a:solidFill>
                <a:latin typeface="Segoe UI"/>
              </a:rPr>
              <a:t>A Micro-Footprint, Dependency-Free Deep Learning Engine for Edge-Native GPU Training</a:t>
            </a:r>
          </a:p>
        </p:txBody>
      </p:sp>
      <p:sp>
        <p:nvSpPr>
          <p:cNvPr id="9" name="TextBox 8"/>
          <p:cNvSpPr txBox="1"/>
          <p:nvPr/>
        </p:nvSpPr>
        <p:spPr>
          <a:xfrm>
            <a:off x="822960" y="5074920"/>
            <a:ext cx="10424160" cy="365760"/>
          </a:xfrm>
          <a:prstGeom prst="rect">
            <a:avLst/>
          </a:prstGeom>
          <a:noFill/>
        </p:spPr>
        <p:txBody>
          <a:bodyPr wrap="square">
            <a:spAutoFit/>
          </a:bodyPr>
          <a:lstStyle/>
          <a:p>
            <a:pPr algn="l"/>
            <a:r>
              <a:rPr sz="1500" b="1" i="0">
                <a:solidFill>
                  <a:srgbClr val="0B2A4A"/>
                </a:solidFill>
                <a:latin typeface="Segoe UI"/>
              </a:rPr>
              <a:t>Samartha H V   ·   Chiranth R   ·   Pavithra N</a:t>
            </a:r>
          </a:p>
        </p:txBody>
      </p:sp>
      <p:sp>
        <p:nvSpPr>
          <p:cNvPr id="10" name="TextBox 9"/>
          <p:cNvSpPr txBox="1"/>
          <p:nvPr/>
        </p:nvSpPr>
        <p:spPr>
          <a:xfrm>
            <a:off x="822960" y="5440680"/>
            <a:ext cx="10424160" cy="365760"/>
          </a:xfrm>
          <a:prstGeom prst="rect">
            <a:avLst/>
          </a:prstGeom>
          <a:noFill/>
        </p:spPr>
        <p:txBody>
          <a:bodyPr wrap="square">
            <a:spAutoFit/>
          </a:bodyPr>
          <a:lstStyle/>
          <a:p>
            <a:pPr algn="l"/>
            <a:r>
              <a:rPr sz="1300" b="0" i="0">
                <a:solidFill>
                  <a:srgbClr val="64748B"/>
                </a:solidFill>
                <a:latin typeface="Segoe UI"/>
              </a:rPr>
              <a:t>Manipal Institute of Technology Bengaluru, Manipal Academy of Higher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M  O  T  I  V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Parallel Training Has a Blind Spot</a:t>
            </a:r>
          </a:p>
        </p:txBody>
      </p:sp>
      <p:sp>
        <p:nvSpPr>
          <p:cNvPr id="7" name="TextBox 6"/>
          <p:cNvSpPr txBox="1"/>
          <p:nvPr/>
        </p:nvSpPr>
        <p:spPr>
          <a:xfrm>
            <a:off x="548640" y="1600200"/>
            <a:ext cx="5120640" cy="411480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GPUs split a mini-batch across thousands of threads</a:t>
            </a:r>
          </a:p>
          <a:p>
            <a:pPr>
              <a:spcAft>
                <a:spcPts val="1600"/>
              </a:spcAft>
            </a:pPr>
            <a:r>
              <a:rPr sz="1900" b="1">
                <a:solidFill>
                  <a:srgbClr val="2E75D6"/>
                </a:solidFill>
                <a:latin typeface="Segoe UI"/>
              </a:rPr>
              <a:t>›  </a:t>
            </a:r>
            <a:r>
              <a:rPr sz="1900">
                <a:solidFill>
                  <a:srgbClr val="222B36"/>
                </a:solidFill>
                <a:latin typeface="Segoe UI"/>
              </a:rPr>
              <a:t>Forward/backward passes are embarrassingly parallel — fully independent</a:t>
            </a:r>
          </a:p>
          <a:p>
            <a:pPr>
              <a:spcAft>
                <a:spcPts val="1600"/>
              </a:spcAft>
            </a:pPr>
            <a:r>
              <a:rPr sz="1900" b="1">
                <a:solidFill>
                  <a:srgbClr val="2E75D6"/>
                </a:solidFill>
                <a:latin typeface="Segoe UI"/>
              </a:rPr>
              <a:t>›  </a:t>
            </a:r>
            <a:r>
              <a:rPr sz="1900">
                <a:solidFill>
                  <a:srgbClr val="222B36"/>
                </a:solidFill>
                <a:latin typeface="Segoe UI"/>
              </a:rPr>
              <a:t>But Momentum and Adam carry memory across steps</a:t>
            </a:r>
          </a:p>
          <a:p>
            <a:pPr>
              <a:spcAft>
                <a:spcPts val="1600"/>
              </a:spcAft>
            </a:pPr>
            <a:r>
              <a:rPr sz="1900" b="1">
                <a:solidFill>
                  <a:srgbClr val="2E75D6"/>
                </a:solidFill>
                <a:latin typeface="Segoe UI"/>
              </a:rPr>
              <a:t>›  </a:t>
            </a:r>
            <a:r>
              <a:rPr sz="1900">
                <a:solidFill>
                  <a:srgbClr val="222B36"/>
                </a:solidFill>
                <a:latin typeface="Segoe UI"/>
              </a:rPr>
              <a:t>Thousands of threads racing on that shared memory = silent corruption</a:t>
            </a:r>
          </a:p>
        </p:txBody>
      </p:sp>
      <p:sp>
        <p:nvSpPr>
          <p:cNvPr id="8" name="Oval 7"/>
          <p:cNvSpPr/>
          <p:nvPr/>
        </p:nvSpPr>
        <p:spPr>
          <a:xfrm>
            <a:off x="6537960" y="1600200"/>
            <a:ext cx="822960" cy="82296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GPU</a:t>
            </a:r>
          </a:p>
        </p:txBody>
      </p:sp>
      <p:sp>
        <p:nvSpPr>
          <p:cNvPr id="9" name="TextBox 8"/>
          <p:cNvSpPr txBox="1"/>
          <p:nvPr/>
        </p:nvSpPr>
        <p:spPr>
          <a:xfrm>
            <a:off x="6446520" y="2487168"/>
            <a:ext cx="1005840" cy="274320"/>
          </a:xfrm>
          <a:prstGeom prst="rect">
            <a:avLst/>
          </a:prstGeom>
          <a:noFill/>
        </p:spPr>
        <p:txBody>
          <a:bodyPr wrap="square">
            <a:spAutoFit/>
          </a:bodyPr>
          <a:lstStyle/>
          <a:p>
            <a:pPr algn="ctr"/>
            <a:r>
              <a:rPr sz="1000" b="0" i="0">
                <a:solidFill>
                  <a:srgbClr val="64748B"/>
                </a:solidFill>
                <a:latin typeface="Segoe UI"/>
              </a:rPr>
              <a:t>Device</a:t>
            </a:r>
          </a:p>
        </p:txBody>
      </p:sp>
      <p:cxnSp>
        <p:nvCxnSpPr>
          <p:cNvPr id="10" name="Connector 9"/>
          <p:cNvCxnSpPr/>
          <p:nvPr/>
        </p:nvCxnSpPr>
        <p:spPr>
          <a:xfrm>
            <a:off x="7360920" y="2011680"/>
            <a:ext cx="100584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8229600" y="194310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66760" y="1600200"/>
            <a:ext cx="822960" cy="822960"/>
          </a:xfrm>
          <a:prstGeom prst="ellipse">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×2048</a:t>
            </a:r>
          </a:p>
        </p:txBody>
      </p:sp>
      <p:sp>
        <p:nvSpPr>
          <p:cNvPr id="13" name="TextBox 12"/>
          <p:cNvSpPr txBox="1"/>
          <p:nvPr/>
        </p:nvSpPr>
        <p:spPr>
          <a:xfrm>
            <a:off x="8138160" y="2487168"/>
            <a:ext cx="1280160" cy="274320"/>
          </a:xfrm>
          <a:prstGeom prst="rect">
            <a:avLst/>
          </a:prstGeom>
          <a:noFill/>
        </p:spPr>
        <p:txBody>
          <a:bodyPr wrap="square">
            <a:spAutoFit/>
          </a:bodyPr>
          <a:lstStyle/>
          <a:p>
            <a:pPr algn="ctr"/>
            <a:r>
              <a:rPr sz="1000" b="0" i="0">
                <a:solidFill>
                  <a:srgbClr val="64748B"/>
                </a:solidFill>
                <a:latin typeface="Segoe UI"/>
              </a:rPr>
              <a:t>Threads</a:t>
            </a:r>
          </a:p>
        </p:txBody>
      </p:sp>
      <p:cxnSp>
        <p:nvCxnSpPr>
          <p:cNvPr id="14" name="Connector 13"/>
          <p:cNvCxnSpPr/>
          <p:nvPr/>
        </p:nvCxnSpPr>
        <p:spPr>
          <a:xfrm>
            <a:off x="9189720" y="2011680"/>
            <a:ext cx="100584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10058400" y="194310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149840" y="1691640"/>
            <a:ext cx="1417320" cy="64008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B43B2E"/>
                </a:solidFill>
                <a:latin typeface="Segoe UI"/>
              </a:rPr>
              <a:t>shared
state</a:t>
            </a:r>
          </a:p>
        </p:txBody>
      </p:sp>
      <p:sp>
        <p:nvSpPr>
          <p:cNvPr id="17" name="TextBox 16"/>
          <p:cNvSpPr txBox="1"/>
          <p:nvPr/>
        </p:nvSpPr>
        <p:spPr>
          <a:xfrm>
            <a:off x="6309360" y="3063240"/>
            <a:ext cx="5394960" cy="1463040"/>
          </a:xfrm>
          <a:prstGeom prst="rect">
            <a:avLst/>
          </a:prstGeom>
          <a:noFill/>
        </p:spPr>
        <p:txBody>
          <a:bodyPr wrap="square">
            <a:spAutoFit/>
          </a:bodyPr>
          <a:lstStyle/>
          <a:p>
            <a:pPr algn="l"/>
            <a:r>
              <a:rPr sz="1400" b="0" i="1">
                <a:solidFill>
                  <a:srgbClr val="0B2A4A"/>
                </a:solidFill>
                <a:latin typeface="Segoe UI"/>
              </a:rPr>
              <a:t>Every thread wants to update the SAME optimizer memory
at the SAME instant — with no built-in ordering.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P  R  O  B  L  E  M     S  T  A  T  E  M  E  N  T</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When Parallel Correctness Breaks</a:t>
            </a:r>
          </a:p>
        </p:txBody>
      </p:sp>
      <p:sp>
        <p:nvSpPr>
          <p:cNvPr id="7" name="TextBox 6"/>
          <p:cNvSpPr txBox="1"/>
          <p:nvPr/>
        </p:nvSpPr>
        <p:spPr>
          <a:xfrm>
            <a:off x="548640" y="1600200"/>
            <a:ext cx="5120640" cy="411480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One GPU thread per training sample</a:t>
            </a:r>
          </a:p>
          <a:p>
            <a:pPr>
              <a:spcAft>
                <a:spcPts val="1600"/>
              </a:spcAft>
            </a:pPr>
            <a:r>
              <a:rPr sz="1900" b="1">
                <a:solidFill>
                  <a:srgbClr val="2E75D6"/>
                </a:solidFill>
                <a:latin typeface="Segoe UI"/>
              </a:rPr>
              <a:t>›  </a:t>
            </a:r>
            <a:r>
              <a:rPr sz="1900">
                <a:solidFill>
                  <a:srgbClr val="222B36"/>
                </a:solidFill>
                <a:latin typeface="Segoe UI"/>
              </a:rPr>
              <a:t>Optimizer state (velocity, moments) is shared across ALL threads</a:t>
            </a:r>
          </a:p>
          <a:p>
            <a:pPr>
              <a:spcAft>
                <a:spcPts val="1600"/>
              </a:spcAft>
            </a:pPr>
            <a:r>
              <a:rPr sz="1900" b="1">
                <a:solidFill>
                  <a:srgbClr val="2E75D6"/>
                </a:solidFill>
                <a:latin typeface="Segoe UI"/>
              </a:rPr>
              <a:t>›  </a:t>
            </a:r>
            <a:r>
              <a:rPr sz="1900">
                <a:solidFill>
                  <a:srgbClr val="222B36"/>
                </a:solidFill>
                <a:latin typeface="Segoe UI"/>
              </a:rPr>
              <a:t>Read → modify → write races corrupt that state</a:t>
            </a:r>
          </a:p>
          <a:p>
            <a:pPr>
              <a:spcAft>
                <a:spcPts val="1600"/>
              </a:spcAft>
            </a:pPr>
            <a:r>
              <a:rPr sz="1900" b="1">
                <a:solidFill>
                  <a:srgbClr val="2E75D6"/>
                </a:solidFill>
                <a:latin typeface="Segoe UI"/>
              </a:rPr>
              <a:t>›  </a:t>
            </a:r>
            <a:r>
              <a:rPr sz="1900">
                <a:solidFill>
                  <a:srgbClr val="222B36"/>
                </a:solidFill>
                <a:latin typeface="Segoe UI"/>
              </a:rPr>
              <a:t>No crash. No error. No warning. Just wrong.</a:t>
            </a:r>
          </a:p>
        </p:txBody>
      </p:sp>
      <p:sp>
        <p:nvSpPr>
          <p:cNvPr id="8" name="Rounded Rectangle 7"/>
          <p:cNvSpPr/>
          <p:nvPr/>
        </p:nvSpPr>
        <p:spPr>
          <a:xfrm>
            <a:off x="6675120" y="1737360"/>
            <a:ext cx="1554480" cy="64008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Thread i</a:t>
            </a:r>
          </a:p>
        </p:txBody>
      </p:sp>
      <p:sp>
        <p:nvSpPr>
          <p:cNvPr id="9" name="Rounded Rectangle 8"/>
          <p:cNvSpPr/>
          <p:nvPr/>
        </p:nvSpPr>
        <p:spPr>
          <a:xfrm>
            <a:off x="6675120" y="2834640"/>
            <a:ext cx="1554480" cy="64008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Thread j</a:t>
            </a:r>
          </a:p>
        </p:txBody>
      </p:sp>
      <p:sp>
        <p:nvSpPr>
          <p:cNvPr id="10" name="Rounded Rectangle 9"/>
          <p:cNvSpPr/>
          <p:nvPr/>
        </p:nvSpPr>
        <p:spPr>
          <a:xfrm>
            <a:off x="9052560" y="2286000"/>
            <a:ext cx="1828800" cy="82296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B43B2E"/>
                </a:solidFill>
                <a:latin typeface="Segoe UI"/>
              </a:rPr>
              <a:t>v
(shared)</a:t>
            </a:r>
          </a:p>
        </p:txBody>
      </p:sp>
      <p:cxnSp>
        <p:nvCxnSpPr>
          <p:cNvPr id="11" name="Connector 10"/>
          <p:cNvCxnSpPr/>
          <p:nvPr/>
        </p:nvCxnSpPr>
        <p:spPr>
          <a:xfrm>
            <a:off x="8229600" y="2057400"/>
            <a:ext cx="822960" cy="457200"/>
          </a:xfrm>
          <a:prstGeom prst="line">
            <a:avLst/>
          </a:prstGeom>
          <a:ln w="28575">
            <a:solidFill>
              <a:srgbClr val="B43B2E"/>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7143276">
            <a:off x="8924030" y="2412714"/>
            <a:ext cx="137160" cy="137160"/>
          </a:xfrm>
          <a:prstGeom prst="triangl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8229600" y="2880360"/>
            <a:ext cx="822960" cy="274320"/>
          </a:xfrm>
          <a:prstGeom prst="line">
            <a:avLst/>
          </a:prstGeom>
          <a:ln w="28575">
            <a:solidFill>
              <a:srgbClr val="B43B2E"/>
            </a:solidFill>
          </a:ln>
          <a:effectLst/>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4293903">
            <a:off x="8918919" y="2833466"/>
            <a:ext cx="137160" cy="137160"/>
          </a:xfrm>
          <a:prstGeom prst="triangl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794760"/>
            <a:ext cx="4480560" cy="731520"/>
          </a:xfrm>
          <a:prstGeom prst="rect">
            <a:avLst/>
          </a:prstGeom>
          <a:noFill/>
        </p:spPr>
        <p:txBody>
          <a:bodyPr wrap="square">
            <a:spAutoFit/>
          </a:bodyPr>
          <a:lstStyle/>
          <a:p>
            <a:pPr algn="ctr"/>
            <a:r>
              <a:rPr sz="1300" b="0" i="1">
                <a:solidFill>
                  <a:srgbClr val="B43B2E"/>
                </a:solidFill>
                <a:latin typeface="Segoe UI"/>
              </a:rPr>
              <a:t>Both threads read the same old value—
whichever writes last wins. The other vanishes.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4</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E  X  I  S  T  I  N  G     W  O  R  K</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Fast Kernels, But Not This Question</a:t>
            </a:r>
          </a:p>
        </p:txBody>
      </p:sp>
      <p:graphicFrame>
        <p:nvGraphicFramePr>
          <p:cNvPr id="7" name="Table 6"/>
          <p:cNvGraphicFramePr>
            <a:graphicFrameLocks noGrp="1"/>
          </p:cNvGraphicFramePr>
          <p:nvPr/>
        </p:nvGraphicFramePr>
        <p:xfrm>
          <a:off x="548640" y="1737360"/>
          <a:ext cx="8595360" cy="2377440"/>
        </p:xfrm>
        <a:graphic>
          <a:graphicData uri="http://schemas.openxmlformats.org/drawingml/2006/table">
            <a:tbl>
              <a:tblPr firstRow="1" bandRow="1">
                <a:tableStyleId>{5C22544A-7EE6-4342-B048-85BDC9FD1C3A}</a:tableStyleId>
              </a:tblPr>
              <a:tblGrid>
                <a:gridCol w="2926080"/>
                <a:gridCol w="3291840"/>
                <a:gridCol w="2377440"/>
              </a:tblGrid>
              <a:tr h="475488">
                <a:tc>
                  <a:txBody>
                    <a:bodyPr/>
                    <a:lstStyle/>
                    <a:p>
                      <a:pPr algn="l"/>
                      <a:r>
                        <a:rPr sz="1500" b="1">
                          <a:solidFill>
                            <a:srgbClr val="FFFFFF"/>
                          </a:solidFill>
                          <a:latin typeface="Segoe UI"/>
                        </a:rPr>
                        <a:t>Prior Work</a:t>
                      </a:r>
                    </a:p>
                  </a:txBody>
                  <a:tcPr anchor="ctr" marL="109728">
                    <a:solidFill>
                      <a:srgbClr val="0B5394"/>
                    </a:solidFill>
                  </a:tcPr>
                </a:tc>
                <a:tc>
                  <a:txBody>
                    <a:bodyPr/>
                    <a:lstStyle/>
                    <a:p>
                      <a:pPr algn="l"/>
                      <a:r>
                        <a:rPr sz="1500" b="1">
                          <a:solidFill>
                            <a:srgbClr val="FFFFFF"/>
                          </a:solidFill>
                          <a:latin typeface="Segoe UI"/>
                        </a:rPr>
                        <a:t>Result</a:t>
                      </a:r>
                    </a:p>
                  </a:txBody>
                  <a:tcPr anchor="ctr" marL="109728">
                    <a:solidFill>
                      <a:srgbClr val="0B5394"/>
                    </a:solidFill>
                  </a:tcPr>
                </a:tc>
                <a:tc>
                  <a:txBody>
                    <a:bodyPr/>
                    <a:lstStyle/>
                    <a:p>
                      <a:pPr algn="l"/>
                      <a:r>
                        <a:rPr sz="1500" b="1">
                          <a:solidFill>
                            <a:srgbClr val="FFFFFF"/>
                          </a:solidFill>
                          <a:latin typeface="Segoe UI"/>
                        </a:rPr>
                        <a:t>Parallelizes optimizer state?</a:t>
                      </a:r>
                    </a:p>
                  </a:txBody>
                  <a:tcPr anchor="ctr" marL="109728">
                    <a:solidFill>
                      <a:srgbClr val="0B5394"/>
                    </a:solidFill>
                  </a:tcPr>
                </a:tc>
              </a:tr>
              <a:tr h="475488">
                <a:tc>
                  <a:txBody>
                    <a:bodyPr/>
                    <a:lstStyle/>
                    <a:p>
                      <a:r>
                        <a:rPr sz="1500" b="1">
                          <a:solidFill>
                            <a:srgbClr val="222B36"/>
                          </a:solidFill>
                          <a:latin typeface="Segoe UI"/>
                        </a:rPr>
                        <a:t>Wang et al.</a:t>
                      </a:r>
                    </a:p>
                  </a:txBody>
                  <a:tcPr anchor="ctr" marL="109728">
                    <a:solidFill>
                      <a:srgbClr val="FFFFFF"/>
                    </a:solidFill>
                  </a:tcPr>
                </a:tc>
                <a:tc>
                  <a:txBody>
                    <a:bodyPr/>
                    <a:lstStyle/>
                    <a:p>
                      <a:r>
                        <a:rPr sz="1500" b="0">
                          <a:solidFill>
                            <a:srgbClr val="222B36"/>
                          </a:solidFill>
                          <a:latin typeface="Segoe UI"/>
                        </a:rPr>
                        <a:t>17× inference speedup</a:t>
                      </a:r>
                    </a:p>
                  </a:txBody>
                  <a:tcPr anchor="ctr" marL="109728">
                    <a:solidFill>
                      <a:srgbClr val="FFFFFF"/>
                    </a:solidFill>
                  </a:tcPr>
                </a:tc>
                <a:tc>
                  <a:txBody>
                    <a:bodyPr/>
                    <a:lstStyle/>
                    <a:p>
                      <a:r>
                        <a:rPr sz="1500" b="0">
                          <a:solidFill>
                            <a:srgbClr val="222B36"/>
                          </a:solidFill>
                          <a:latin typeface="Segoe UI"/>
                        </a:rPr>
                        <a:t>No</a:t>
                      </a:r>
                    </a:p>
                  </a:txBody>
                  <a:tcPr anchor="ctr" marL="109728">
                    <a:solidFill>
                      <a:srgbClr val="FFFFFF"/>
                    </a:solidFill>
                  </a:tcPr>
                </a:tc>
              </a:tr>
              <a:tr h="475488">
                <a:tc>
                  <a:txBody>
                    <a:bodyPr/>
                    <a:lstStyle/>
                    <a:p>
                      <a:r>
                        <a:rPr sz="1500" b="1">
                          <a:solidFill>
                            <a:srgbClr val="222B36"/>
                          </a:solidFill>
                          <a:latin typeface="Segoe UI"/>
                        </a:rPr>
                        <a:t>Rao et al.</a:t>
                      </a:r>
                    </a:p>
                  </a:txBody>
                  <a:tcPr anchor="ctr" marL="109728">
                    <a:solidFill>
                      <a:srgbClr val="EAF2FB"/>
                    </a:solidFill>
                  </a:tcPr>
                </a:tc>
                <a:tc>
                  <a:txBody>
                    <a:bodyPr/>
                    <a:lstStyle/>
                    <a:p>
                      <a:r>
                        <a:rPr sz="1500" b="0">
                          <a:solidFill>
                            <a:srgbClr val="222B36"/>
                          </a:solidFill>
                          <a:latin typeface="Segoe UI"/>
                        </a:rPr>
                        <a:t>487× backprop speedup</a:t>
                      </a:r>
                    </a:p>
                  </a:txBody>
                  <a:tcPr anchor="ctr" marL="109728">
                    <a:solidFill>
                      <a:srgbClr val="EAF2FB"/>
                    </a:solidFill>
                  </a:tcPr>
                </a:tc>
                <a:tc>
                  <a:txBody>
                    <a:bodyPr/>
                    <a:lstStyle/>
                    <a:p>
                      <a:r>
                        <a:rPr sz="1500" b="0">
                          <a:solidFill>
                            <a:srgbClr val="222B36"/>
                          </a:solidFill>
                          <a:latin typeface="Segoe UI"/>
                        </a:rPr>
                        <a:t>No</a:t>
                      </a:r>
                    </a:p>
                  </a:txBody>
                  <a:tcPr anchor="ctr" marL="109728">
                    <a:solidFill>
                      <a:srgbClr val="EAF2FB"/>
                    </a:solidFill>
                  </a:tcPr>
                </a:tc>
              </a:tr>
              <a:tr h="475488">
                <a:tc>
                  <a:txBody>
                    <a:bodyPr/>
                    <a:lstStyle/>
                    <a:p>
                      <a:r>
                        <a:rPr sz="1500" b="1">
                          <a:solidFill>
                            <a:srgbClr val="222B36"/>
                          </a:solidFill>
                          <a:latin typeface="Segoe UI"/>
                        </a:rPr>
                        <a:t>Zhao et al.</a:t>
                      </a:r>
                    </a:p>
                  </a:txBody>
                  <a:tcPr anchor="ctr" marL="109728">
                    <a:solidFill>
                      <a:srgbClr val="FFFFFF"/>
                    </a:solidFill>
                  </a:tcPr>
                </a:tc>
                <a:tc>
                  <a:txBody>
                    <a:bodyPr/>
                    <a:lstStyle/>
                    <a:p>
                      <a:r>
                        <a:rPr sz="1500" b="0">
                          <a:solidFill>
                            <a:srgbClr val="222B36"/>
                          </a:solidFill>
                          <a:latin typeface="Segoe UI"/>
                        </a:rPr>
                        <a:t>110× speedup, 97.2% MNIST</a:t>
                      </a:r>
                    </a:p>
                  </a:txBody>
                  <a:tcPr anchor="ctr" marL="109728">
                    <a:solidFill>
                      <a:srgbClr val="FFFFFF"/>
                    </a:solidFill>
                  </a:tcPr>
                </a:tc>
                <a:tc>
                  <a:txBody>
                    <a:bodyPr/>
                    <a:lstStyle/>
                    <a:p>
                      <a:r>
                        <a:rPr sz="1500" b="0">
                          <a:solidFill>
                            <a:srgbClr val="222B36"/>
                          </a:solidFill>
                          <a:latin typeface="Segoe UI"/>
                        </a:rPr>
                        <a:t>No</a:t>
                      </a:r>
                    </a:p>
                  </a:txBody>
                  <a:tcPr anchor="ctr" marL="109728">
                    <a:solidFill>
                      <a:srgbClr val="FFFFFF"/>
                    </a:solidFill>
                  </a:tcPr>
                </a:tc>
              </a:tr>
              <a:tr h="475488">
                <a:tc>
                  <a:txBody>
                    <a:bodyPr/>
                    <a:lstStyle/>
                    <a:p>
                      <a:r>
                        <a:rPr sz="1500" b="1">
                          <a:solidFill>
                            <a:srgbClr val="222B36"/>
                          </a:solidFill>
                          <a:latin typeface="Segoe UI"/>
                        </a:rPr>
                        <a:t>PyTorch / cuDNN</a:t>
                      </a:r>
                    </a:p>
                  </a:txBody>
                  <a:tcPr anchor="ctr" marL="109728">
                    <a:solidFill>
                      <a:srgbClr val="EAF2FB"/>
                    </a:solidFill>
                  </a:tcPr>
                </a:tc>
                <a:tc>
                  <a:txBody>
                    <a:bodyPr/>
                    <a:lstStyle/>
                    <a:p>
                      <a:r>
                        <a:rPr sz="1500" b="0">
                          <a:solidFill>
                            <a:srgbClr val="222B36"/>
                          </a:solidFill>
                          <a:latin typeface="Segoe UI"/>
                        </a:rPr>
                        <a:t>Production framework</a:t>
                      </a:r>
                    </a:p>
                  </a:txBody>
                  <a:tcPr anchor="ctr" marL="109728">
                    <a:solidFill>
                      <a:srgbClr val="EAF2FB"/>
                    </a:solidFill>
                  </a:tcPr>
                </a:tc>
                <a:tc>
                  <a:txBody>
                    <a:bodyPr/>
                    <a:lstStyle/>
                    <a:p>
                      <a:r>
                        <a:rPr sz="1500" b="0">
                          <a:solidFill>
                            <a:srgbClr val="222B36"/>
                          </a:solidFill>
                          <a:latin typeface="Segoe UI"/>
                        </a:rPr>
                        <a:t>Hidden by design</a:t>
                      </a:r>
                    </a:p>
                  </a:txBody>
                  <a:tcPr anchor="ctr" marL="109728">
                    <a:solidFill>
                      <a:srgbClr val="EAF2FB"/>
                    </a:solidFill>
                  </a:tcPr>
                </a:tc>
              </a:tr>
            </a:tbl>
          </a:graphicData>
        </a:graphic>
      </p:graphicFrame>
      <p:sp>
        <p:nvSpPr>
          <p:cNvPr id="8" name="Rounded Rectangle 7"/>
          <p:cNvSpPr/>
          <p:nvPr/>
        </p:nvSpPr>
        <p:spPr>
          <a:xfrm>
            <a:off x="9418320" y="1828800"/>
            <a:ext cx="2194560" cy="210312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B43B2E"/>
                </a:solidFill>
                <a:latin typeface="Segoe UI"/>
              </a:rPr>
              <a:t>None explicitly
identify or resolve
race conditions in
stateful optimizers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5</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E  S  E  A  R  C  H     G  A  P</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The Empty Quadrant</a:t>
            </a:r>
          </a:p>
        </p:txBody>
      </p:sp>
      <p:sp>
        <p:nvSpPr>
          <p:cNvPr id="7" name="TextBox 6"/>
          <p:cNvSpPr txBox="1"/>
          <p:nvPr/>
        </p:nvSpPr>
        <p:spPr>
          <a:xfrm>
            <a:off x="3108960" y="1325880"/>
            <a:ext cx="5943600" cy="365760"/>
          </a:xfrm>
          <a:prstGeom prst="rect">
            <a:avLst/>
          </a:prstGeom>
          <a:noFill/>
        </p:spPr>
        <p:txBody>
          <a:bodyPr wrap="square">
            <a:spAutoFit/>
          </a:bodyPr>
          <a:lstStyle/>
          <a:p>
            <a:pPr algn="ctr"/>
            <a:r>
              <a:rPr sz="100" b="0" i="0">
                <a:solidFill>
                  <a:srgbClr val="64748B"/>
                </a:solidFill>
                <a:latin typeface="Segoe UI"/>
              </a:rPr>
              <a:t/>
            </a:r>
          </a:p>
        </p:txBody>
      </p:sp>
      <p:sp>
        <p:nvSpPr>
          <p:cNvPr id="8" name="TextBox 7"/>
          <p:cNvSpPr txBox="1"/>
          <p:nvPr/>
        </p:nvSpPr>
        <p:spPr>
          <a:xfrm>
            <a:off x="3108960" y="1371600"/>
            <a:ext cx="2971800" cy="365760"/>
          </a:xfrm>
          <a:prstGeom prst="rect">
            <a:avLst/>
          </a:prstGeom>
          <a:noFill/>
        </p:spPr>
        <p:txBody>
          <a:bodyPr wrap="square">
            <a:spAutoFit/>
          </a:bodyPr>
          <a:lstStyle/>
          <a:p>
            <a:pPr algn="ctr"/>
            <a:r>
              <a:rPr sz="1300" b="1" i="0">
                <a:solidFill>
                  <a:srgbClr val="64748B"/>
                </a:solidFill>
                <a:latin typeface="Segoe UI"/>
              </a:rPr>
              <a:t>Framework-Level</a:t>
            </a:r>
          </a:p>
        </p:txBody>
      </p:sp>
      <p:sp>
        <p:nvSpPr>
          <p:cNvPr id="9" name="TextBox 8"/>
          <p:cNvSpPr txBox="1"/>
          <p:nvPr/>
        </p:nvSpPr>
        <p:spPr>
          <a:xfrm>
            <a:off x="6080760" y="1371600"/>
            <a:ext cx="2971800" cy="365760"/>
          </a:xfrm>
          <a:prstGeom prst="rect">
            <a:avLst/>
          </a:prstGeom>
          <a:noFill/>
        </p:spPr>
        <p:txBody>
          <a:bodyPr wrap="square">
            <a:spAutoFit/>
          </a:bodyPr>
          <a:lstStyle/>
          <a:p>
            <a:pPr algn="ctr"/>
            <a:r>
              <a:rPr sz="1300" b="1" i="0">
                <a:solidFill>
                  <a:srgbClr val="64748B"/>
                </a:solidFill>
                <a:latin typeface="Segoe UI"/>
              </a:rPr>
              <a:t>Custom CUDA Kernel</a:t>
            </a:r>
          </a:p>
        </p:txBody>
      </p:sp>
      <p:sp>
        <p:nvSpPr>
          <p:cNvPr id="10" name="TextBox 9"/>
          <p:cNvSpPr txBox="1"/>
          <p:nvPr/>
        </p:nvSpPr>
        <p:spPr>
          <a:xfrm>
            <a:off x="1554480" y="2560320"/>
            <a:ext cx="1463040" cy="548640"/>
          </a:xfrm>
          <a:prstGeom prst="rect">
            <a:avLst/>
          </a:prstGeom>
          <a:noFill/>
        </p:spPr>
        <p:txBody>
          <a:bodyPr wrap="square">
            <a:spAutoFit/>
          </a:bodyPr>
          <a:lstStyle/>
          <a:p>
            <a:pPr algn="r"/>
            <a:r>
              <a:rPr sz="1300" b="1" i="0">
                <a:solidFill>
                  <a:srgbClr val="64748B"/>
                </a:solidFill>
                <a:latin typeface="Segoe UI"/>
              </a:rPr>
              <a:t>Stateless
(SGD)</a:t>
            </a:r>
          </a:p>
        </p:txBody>
      </p:sp>
      <p:sp>
        <p:nvSpPr>
          <p:cNvPr id="11" name="TextBox 10"/>
          <p:cNvSpPr txBox="1"/>
          <p:nvPr/>
        </p:nvSpPr>
        <p:spPr>
          <a:xfrm>
            <a:off x="1554480" y="4572000"/>
            <a:ext cx="1463040" cy="548640"/>
          </a:xfrm>
          <a:prstGeom prst="rect">
            <a:avLst/>
          </a:prstGeom>
          <a:noFill/>
        </p:spPr>
        <p:txBody>
          <a:bodyPr wrap="square">
            <a:spAutoFit/>
          </a:bodyPr>
          <a:lstStyle/>
          <a:p>
            <a:pPr algn="r"/>
            <a:r>
              <a:rPr sz="1300" b="1" i="0">
                <a:solidFill>
                  <a:srgbClr val="64748B"/>
                </a:solidFill>
                <a:latin typeface="Segoe UI"/>
              </a:rPr>
              <a:t>Stateful
(Momentum/Adam)</a:t>
            </a:r>
          </a:p>
        </p:txBody>
      </p:sp>
      <p:sp>
        <p:nvSpPr>
          <p:cNvPr id="12" name="Rounded Rectangle 11"/>
          <p:cNvSpPr/>
          <p:nvPr/>
        </p:nvSpPr>
        <p:spPr>
          <a:xfrm>
            <a:off x="3108960" y="1737360"/>
            <a:ext cx="2898648" cy="1938528"/>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B2A4A"/>
                </a:solidFill>
                <a:latin typeface="Segoe UI"/>
              </a:rPr>
              <a:t>PyTorch
cuBLAS</a:t>
            </a:r>
          </a:p>
        </p:txBody>
      </p:sp>
      <p:sp>
        <p:nvSpPr>
          <p:cNvPr id="13" name="Rounded Rectangle 12"/>
          <p:cNvSpPr/>
          <p:nvPr/>
        </p:nvSpPr>
        <p:spPr>
          <a:xfrm>
            <a:off x="6153912" y="1737360"/>
            <a:ext cx="2898648" cy="1938528"/>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B2A4A"/>
                </a:solidFill>
                <a:latin typeface="Segoe UI"/>
              </a:rPr>
              <a:t>Wang, Rao,
Zhao et al.</a:t>
            </a:r>
          </a:p>
        </p:txBody>
      </p:sp>
      <p:sp>
        <p:nvSpPr>
          <p:cNvPr id="14" name="Rounded Rectangle 13"/>
          <p:cNvSpPr/>
          <p:nvPr/>
        </p:nvSpPr>
        <p:spPr>
          <a:xfrm>
            <a:off x="3108960" y="3822192"/>
            <a:ext cx="2898648" cy="1938528"/>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B2A4A"/>
                </a:solidFill>
                <a:latin typeface="Segoe UI"/>
              </a:rPr>
              <a:t>PyTorch
(hidden)</a:t>
            </a:r>
          </a:p>
        </p:txBody>
      </p:sp>
      <p:sp>
        <p:nvSpPr>
          <p:cNvPr id="15" name="Rounded Rectangle 14"/>
          <p:cNvSpPr/>
          <p:nvPr/>
        </p:nvSpPr>
        <p:spPr>
          <a:xfrm>
            <a:off x="6153912" y="3822192"/>
            <a:ext cx="2898648" cy="1938528"/>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B43B2E"/>
                </a:solidFill>
                <a:latin typeface="Segoe UI"/>
              </a:rPr>
              <a:t>THE GAP
—
This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6</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P  R  O  P  O  S  E  D     S  O  L  U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Two-Phase Gradient Accumulation</a:t>
            </a:r>
          </a:p>
        </p:txBody>
      </p:sp>
      <p:sp>
        <p:nvSpPr>
          <p:cNvPr id="7" name="TextBox 6"/>
          <p:cNvSpPr txBox="1"/>
          <p:nvPr/>
        </p:nvSpPr>
        <p:spPr>
          <a:xfrm>
            <a:off x="548640" y="1645920"/>
            <a:ext cx="5120640" cy="365760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Split every mini-batch update into two serialized phases</a:t>
            </a:r>
          </a:p>
          <a:p>
            <a:pPr>
              <a:spcAft>
                <a:spcPts val="1600"/>
              </a:spcAft>
            </a:pPr>
            <a:r>
              <a:rPr sz="1900" b="1">
                <a:solidFill>
                  <a:srgbClr val="2E75D6"/>
                </a:solidFill>
                <a:latin typeface="Segoe UI"/>
              </a:rPr>
              <a:t>›  </a:t>
            </a:r>
            <a:r>
              <a:rPr sz="1900">
                <a:solidFill>
                  <a:srgbClr val="222B36"/>
                </a:solidFill>
                <a:latin typeface="Segoe UI"/>
              </a:rPr>
              <a:t>Phase 1: parallel, commutative gradient summation</a:t>
            </a:r>
          </a:p>
          <a:p>
            <a:pPr>
              <a:spcAft>
                <a:spcPts val="1600"/>
              </a:spcAft>
            </a:pPr>
            <a:r>
              <a:rPr sz="1900" b="1">
                <a:solidFill>
                  <a:srgbClr val="2E75D6"/>
                </a:solidFill>
                <a:latin typeface="Segoe UI"/>
              </a:rPr>
              <a:t>›  </a:t>
            </a:r>
            <a:r>
              <a:rPr sz="1900">
                <a:solidFill>
                  <a:srgbClr val="222B36"/>
                </a:solidFill>
                <a:latin typeface="Segoe UI"/>
              </a:rPr>
              <a:t>Phase 2: one thread per parameter — no race possible</a:t>
            </a:r>
          </a:p>
          <a:p>
            <a:pPr>
              <a:spcAft>
                <a:spcPts val="1600"/>
              </a:spcAft>
            </a:pPr>
            <a:r>
              <a:rPr sz="1900" b="1">
                <a:solidFill>
                  <a:srgbClr val="2E75D6"/>
                </a:solidFill>
                <a:latin typeface="Segoe UI"/>
              </a:rPr>
              <a:t>›  </a:t>
            </a:r>
            <a:r>
              <a:rPr sz="1900">
                <a:solidFill>
                  <a:srgbClr val="222B36"/>
                </a:solidFill>
                <a:latin typeface="Segoe UI"/>
              </a:rPr>
              <a:t>No locks. No staleness. Near-zero overhead.</a:t>
            </a:r>
          </a:p>
        </p:txBody>
      </p:sp>
      <p:sp>
        <p:nvSpPr>
          <p:cNvPr id="8" name="Rounded Rectangle 7"/>
          <p:cNvSpPr/>
          <p:nvPr/>
        </p:nvSpPr>
        <p:spPr>
          <a:xfrm>
            <a:off x="6492240" y="2103120"/>
            <a:ext cx="2103120" cy="118872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PHASE 1
Many threads
atomicAdd (Σ)</a:t>
            </a:r>
          </a:p>
        </p:txBody>
      </p:sp>
      <p:cxnSp>
        <p:nvCxnSpPr>
          <p:cNvPr id="9" name="Connector 8"/>
          <p:cNvCxnSpPr/>
          <p:nvPr/>
        </p:nvCxnSpPr>
        <p:spPr>
          <a:xfrm>
            <a:off x="8595360" y="2697480"/>
            <a:ext cx="64008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5400000">
            <a:off x="9098280" y="262890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81160" y="1783080"/>
            <a:ext cx="502920" cy="1828800"/>
          </a:xfrm>
          <a:prstGeom prst="roundRect">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64748B"/>
                </a:solidFill>
                <a:latin typeface="Segoe UI"/>
              </a:rPr>
              <a:t>S
Y
N
C</a:t>
            </a:r>
          </a:p>
        </p:txBody>
      </p:sp>
      <p:cxnSp>
        <p:nvCxnSpPr>
          <p:cNvPr id="12" name="Connector 11"/>
          <p:cNvCxnSpPr/>
          <p:nvPr/>
        </p:nvCxnSpPr>
        <p:spPr>
          <a:xfrm>
            <a:off x="9784080" y="2697480"/>
            <a:ext cx="64008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10287000" y="262890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469880" y="2103120"/>
            <a:ext cx="1371600" cy="118872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1E7A46"/>
                </a:solidFill>
                <a:latin typeface="Segoe UI"/>
              </a:rPr>
              <a:t>PHASE 2
1 thread /
weight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7</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Y  S  T  E  M     D  E  S  I  G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CUDAnet Architecture</a:t>
            </a:r>
          </a:p>
        </p:txBody>
      </p:sp>
      <p:sp>
        <p:nvSpPr>
          <p:cNvPr id="7" name="Rounded Rectangle 6"/>
          <p:cNvSpPr/>
          <p:nvPr/>
        </p:nvSpPr>
        <p:spPr>
          <a:xfrm>
            <a:off x="822960" y="2377440"/>
            <a:ext cx="2377440" cy="1371600"/>
          </a:xfrm>
          <a:prstGeom prst="roundRect">
            <a:avLst/>
          </a:prstGeom>
          <a:solidFill>
            <a:srgbClr val="EAF2FB"/>
          </a:solidFill>
          <a:ln w="15875">
            <a:solidFill>
              <a:srgbClr val="0B539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0B2A4A"/>
                </a:solidFill>
                <a:latin typeface="Segoe UI"/>
              </a:rPr>
              <a:t>Input
784 neurons</a:t>
            </a:r>
          </a:p>
        </p:txBody>
      </p:sp>
      <p:cxnSp>
        <p:nvCxnSpPr>
          <p:cNvPr id="8" name="Connector 7"/>
          <p:cNvCxnSpPr/>
          <p:nvPr/>
        </p:nvCxnSpPr>
        <p:spPr>
          <a:xfrm>
            <a:off x="3200400" y="3063240"/>
            <a:ext cx="50292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3566160" y="299466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03320" y="2377440"/>
            <a:ext cx="2377440" cy="1371600"/>
          </a:xfrm>
          <a:prstGeom prst="roundRect">
            <a:avLst/>
          </a:prstGeom>
          <a:solidFill>
            <a:srgbClr val="EAF2FB"/>
          </a:solidFill>
          <a:ln w="15875">
            <a:solidFill>
              <a:srgbClr val="0B539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0B2A4A"/>
                </a:solidFill>
                <a:latin typeface="Segoe UI"/>
              </a:rPr>
              <a:t>Hidden 1
128 neurons</a:t>
            </a:r>
          </a:p>
        </p:txBody>
      </p:sp>
      <p:cxnSp>
        <p:nvCxnSpPr>
          <p:cNvPr id="11" name="Connector 10"/>
          <p:cNvCxnSpPr/>
          <p:nvPr/>
        </p:nvCxnSpPr>
        <p:spPr>
          <a:xfrm>
            <a:off x="6080760" y="3063240"/>
            <a:ext cx="50292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6446520" y="299466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0" y="2377440"/>
            <a:ext cx="2377440" cy="1371600"/>
          </a:xfrm>
          <a:prstGeom prst="roundRect">
            <a:avLst/>
          </a:prstGeom>
          <a:solidFill>
            <a:srgbClr val="EAF2FB"/>
          </a:solidFill>
          <a:ln w="15875">
            <a:solidFill>
              <a:srgbClr val="0B539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0B2A4A"/>
                </a:solidFill>
                <a:latin typeface="Segoe UI"/>
              </a:rPr>
              <a:t>Hidden 2
128 neurons</a:t>
            </a:r>
          </a:p>
        </p:txBody>
      </p:sp>
      <p:cxnSp>
        <p:nvCxnSpPr>
          <p:cNvPr id="14" name="Connector 13"/>
          <p:cNvCxnSpPr/>
          <p:nvPr/>
        </p:nvCxnSpPr>
        <p:spPr>
          <a:xfrm>
            <a:off x="8961120" y="3063240"/>
            <a:ext cx="50292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9326880" y="299466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64040" y="2377440"/>
            <a:ext cx="2377440" cy="1371600"/>
          </a:xfrm>
          <a:prstGeom prst="roundRect">
            <a:avLst/>
          </a:prstGeom>
          <a:solidFill>
            <a:srgbClr val="0B5394"/>
          </a:solidFill>
          <a:ln w="15875">
            <a:solidFill>
              <a:srgbClr val="0B539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Segoe UI"/>
              </a:rPr>
              <a:t>Output
10 neurons</a:t>
            </a:r>
          </a:p>
        </p:txBody>
      </p:sp>
      <p:sp>
        <p:nvSpPr>
          <p:cNvPr id="17" name="TextBox 16"/>
          <p:cNvSpPr txBox="1"/>
          <p:nvPr/>
        </p:nvSpPr>
        <p:spPr>
          <a:xfrm>
            <a:off x="822960" y="3977640"/>
            <a:ext cx="6035040" cy="365760"/>
          </a:xfrm>
          <a:prstGeom prst="rect">
            <a:avLst/>
          </a:prstGeom>
          <a:noFill/>
        </p:spPr>
        <p:txBody>
          <a:bodyPr wrap="square">
            <a:spAutoFit/>
          </a:bodyPr>
          <a:lstStyle/>
          <a:p>
            <a:pPr algn="l"/>
            <a:r>
              <a:rPr sz="1300" b="0" i="0">
                <a:solidFill>
                  <a:srgbClr val="64748B"/>
                </a:solidFill>
                <a:latin typeface="Segoe UI"/>
              </a:rPr>
              <a:t>784 → 128 → 128 → 10   (fully configurable at runtime)</a:t>
            </a:r>
          </a:p>
        </p:txBody>
      </p:sp>
      <p:sp>
        <p:nvSpPr>
          <p:cNvPr id="18" name="TextBox 17"/>
          <p:cNvSpPr txBox="1"/>
          <p:nvPr/>
        </p:nvSpPr>
        <p:spPr>
          <a:xfrm>
            <a:off x="548640" y="4480560"/>
            <a:ext cx="10607040" cy="1645920"/>
          </a:xfrm>
          <a:prstGeom prst="rect">
            <a:avLst/>
          </a:prstGeom>
          <a:noFill/>
        </p:spPr>
        <p:txBody>
          <a:bodyPr wrap="square">
            <a:spAutoFit/>
          </a:bodyPr>
          <a:lstStyle/>
          <a:p>
            <a:pPr>
              <a:spcAft>
                <a:spcPts val="1000"/>
              </a:spcAft>
            </a:pPr>
            <a:r>
              <a:rPr sz="1600" b="1">
                <a:solidFill>
                  <a:srgbClr val="2E75D6"/>
                </a:solidFill>
                <a:latin typeface="Segoe UI"/>
              </a:rPr>
              <a:t>›  </a:t>
            </a:r>
            <a:r>
              <a:rPr sz="1600">
                <a:solidFill>
                  <a:srgbClr val="222B36"/>
                </a:solidFill>
                <a:latin typeface="Segoe UI"/>
              </a:rPr>
              <a:t>ReLU hidden activations · Softmax + cross-entropy output</a:t>
            </a:r>
          </a:p>
          <a:p>
            <a:pPr>
              <a:spcAft>
                <a:spcPts val="1000"/>
              </a:spcAft>
            </a:pPr>
            <a:r>
              <a:rPr sz="1600" b="1">
                <a:solidFill>
                  <a:srgbClr val="2E75D6"/>
                </a:solidFill>
                <a:latin typeface="Segoe UI"/>
              </a:rPr>
              <a:t>›  </a:t>
            </a:r>
            <a:r>
              <a:rPr sz="1600">
                <a:solidFill>
                  <a:srgbClr val="222B36"/>
                </a:solidFill>
                <a:latin typeface="Segoe UI"/>
              </a:rPr>
              <a:t>Optional Batch Normalization after each hidden linear layer</a:t>
            </a:r>
          </a:p>
          <a:p>
            <a:pPr>
              <a:spcAft>
                <a:spcPts val="1000"/>
              </a:spcAft>
            </a:pPr>
            <a:r>
              <a:rPr sz="1600" b="1">
                <a:solidFill>
                  <a:srgbClr val="2E75D6"/>
                </a:solidFill>
                <a:latin typeface="Segoe UI"/>
              </a:rPr>
              <a:t>›  </a:t>
            </a:r>
            <a:r>
              <a:rPr sz="1600">
                <a:solidFill>
                  <a:srgbClr val="222B36"/>
                </a:solidFill>
                <a:latin typeface="Segoe UI"/>
              </a:rPr>
              <a:t>All weights/biases in one flat GPU array — O(1) offset addressing, no pointer chasing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8</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Y  S  T  E  M     D  E  S  I  G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From Batch to Update: The Pipeline</a:t>
            </a:r>
          </a:p>
        </p:txBody>
      </p:sp>
      <p:sp>
        <p:nvSpPr>
          <p:cNvPr id="7" name="Rounded Rectangle 6"/>
          <p:cNvSpPr/>
          <p:nvPr/>
        </p:nvSpPr>
        <p:spPr>
          <a:xfrm>
            <a:off x="640080" y="2743200"/>
            <a:ext cx="1874519" cy="10058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0B2A4A"/>
                </a:solidFill>
                <a:latin typeface="Segoe UI"/>
              </a:rPr>
              <a:t>Init</a:t>
            </a:r>
          </a:p>
        </p:txBody>
      </p:sp>
      <p:cxnSp>
        <p:nvCxnSpPr>
          <p:cNvPr id="8" name="Connector 7"/>
          <p:cNvCxnSpPr/>
          <p:nvPr/>
        </p:nvCxnSpPr>
        <p:spPr>
          <a:xfrm>
            <a:off x="2514599" y="3246120"/>
            <a:ext cx="256032"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2668219" y="3194914"/>
            <a:ext cx="102412" cy="102412"/>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70631" y="2743200"/>
            <a:ext cx="1874519" cy="10058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0B2A4A"/>
                </a:solidFill>
                <a:latin typeface="Segoe UI"/>
              </a:rPr>
              <a:t>Forward</a:t>
            </a:r>
          </a:p>
        </p:txBody>
      </p:sp>
      <p:cxnSp>
        <p:nvCxnSpPr>
          <p:cNvPr id="11" name="Connector 10"/>
          <p:cNvCxnSpPr/>
          <p:nvPr/>
        </p:nvCxnSpPr>
        <p:spPr>
          <a:xfrm>
            <a:off x="4645150" y="3246120"/>
            <a:ext cx="256032"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4798770" y="3194914"/>
            <a:ext cx="102412" cy="102412"/>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01182" y="2743200"/>
            <a:ext cx="1874519" cy="10058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0B2A4A"/>
                </a:solidFill>
                <a:latin typeface="Segoe UI"/>
              </a:rPr>
              <a:t>Loss</a:t>
            </a:r>
          </a:p>
        </p:txBody>
      </p:sp>
      <p:cxnSp>
        <p:nvCxnSpPr>
          <p:cNvPr id="14" name="Connector 13"/>
          <p:cNvCxnSpPr/>
          <p:nvPr/>
        </p:nvCxnSpPr>
        <p:spPr>
          <a:xfrm>
            <a:off x="6775701" y="3246120"/>
            <a:ext cx="256032"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6929321" y="3194914"/>
            <a:ext cx="102412" cy="102412"/>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031733" y="2743200"/>
            <a:ext cx="1874519" cy="10058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0B2A4A"/>
                </a:solidFill>
                <a:latin typeface="Segoe UI"/>
              </a:rPr>
              <a:t>Backward</a:t>
            </a:r>
          </a:p>
        </p:txBody>
      </p:sp>
      <p:cxnSp>
        <p:nvCxnSpPr>
          <p:cNvPr id="17" name="Connector 16"/>
          <p:cNvCxnSpPr/>
          <p:nvPr/>
        </p:nvCxnSpPr>
        <p:spPr>
          <a:xfrm>
            <a:off x="8906252" y="3246120"/>
            <a:ext cx="256032"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9059872" y="3194914"/>
            <a:ext cx="102412" cy="102412"/>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62284" y="2743200"/>
            <a:ext cx="1874519" cy="100584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1E7A46"/>
                </a:solidFill>
                <a:latin typeface="Segoe UI"/>
              </a:rPr>
              <a:t>Update</a:t>
            </a:r>
          </a:p>
        </p:txBody>
      </p:sp>
      <p:sp>
        <p:nvSpPr>
          <p:cNvPr id="20" name="TextBox 19"/>
          <p:cNvSpPr txBox="1"/>
          <p:nvPr/>
        </p:nvSpPr>
        <p:spPr>
          <a:xfrm>
            <a:off x="8887964" y="3886200"/>
            <a:ext cx="2377440" cy="457200"/>
          </a:xfrm>
          <a:prstGeom prst="rect">
            <a:avLst/>
          </a:prstGeom>
          <a:noFill/>
        </p:spPr>
        <p:txBody>
          <a:bodyPr wrap="square">
            <a:spAutoFit/>
          </a:bodyPr>
          <a:lstStyle/>
          <a:p>
            <a:pPr algn="ctr"/>
            <a:r>
              <a:rPr sz="1200" b="1" i="1">
                <a:solidFill>
                  <a:srgbClr val="1E7A46"/>
                </a:solidFill>
                <a:latin typeface="Segoe UI"/>
              </a:rPr>
              <a:t>2PGA applies here</a:t>
            </a:r>
          </a:p>
        </p:txBody>
      </p:sp>
      <p:sp>
        <p:nvSpPr>
          <p:cNvPr id="21" name="TextBox 20"/>
          <p:cNvSpPr txBox="1"/>
          <p:nvPr/>
        </p:nvSpPr>
        <p:spPr>
          <a:xfrm>
            <a:off x="548640" y="1600200"/>
            <a:ext cx="10607040" cy="914400"/>
          </a:xfrm>
          <a:prstGeom prst="rect">
            <a:avLst/>
          </a:prstGeom>
          <a:noFill/>
        </p:spPr>
        <p:txBody>
          <a:bodyPr wrap="square">
            <a:spAutoFit/>
          </a:bodyPr>
          <a:lstStyle/>
          <a:p>
            <a:pPr>
              <a:spcAft>
                <a:spcPts val="600"/>
              </a:spcAft>
            </a:pPr>
            <a:r>
              <a:rPr sz="1700" b="1">
                <a:solidFill>
                  <a:srgbClr val="2E75D6"/>
                </a:solidFill>
                <a:latin typeface="Segoe UI"/>
              </a:rPr>
              <a:t>›  </a:t>
            </a:r>
            <a:r>
              <a:rPr sz="1700">
                <a:solidFill>
                  <a:srgbClr val="222B36"/>
                </a:solidFill>
                <a:latin typeface="Segoe UI"/>
              </a:rPr>
              <a:t>Every stage is one or more GPU kernel launches — the Update stage is where correctness lives or 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9</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C  O  R  E     I  D  E  A</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Introducing 2PGA</a:t>
            </a:r>
          </a:p>
        </p:txBody>
      </p:sp>
      <p:sp>
        <p:nvSpPr>
          <p:cNvPr id="7" name="TextBox 6"/>
          <p:cNvSpPr txBox="1"/>
          <p:nvPr/>
        </p:nvSpPr>
        <p:spPr>
          <a:xfrm>
            <a:off x="548640" y="1645920"/>
            <a:ext cx="5120640" cy="3657600"/>
          </a:xfrm>
          <a:prstGeom prst="rect">
            <a:avLst/>
          </a:prstGeom>
          <a:noFill/>
        </p:spPr>
        <p:txBody>
          <a:bodyPr wrap="square">
            <a:spAutoFit/>
          </a:bodyPr>
          <a:lstStyle/>
          <a:p>
            <a:pPr>
              <a:spcAft>
                <a:spcPts val="1800"/>
              </a:spcAft>
            </a:pPr>
            <a:r>
              <a:rPr sz="2000" b="1">
                <a:solidFill>
                  <a:srgbClr val="2E75D6"/>
                </a:solidFill>
                <a:latin typeface="Segoe UI"/>
              </a:rPr>
              <a:t>›  </a:t>
            </a:r>
            <a:r>
              <a:rPr sz="2000">
                <a:solidFill>
                  <a:srgbClr val="222B36"/>
                </a:solidFill>
                <a:latin typeface="Segoe UI"/>
              </a:rPr>
              <a:t>Many threads may only SUM — safe, commutative</a:t>
            </a:r>
          </a:p>
          <a:p>
            <a:pPr>
              <a:spcAft>
                <a:spcPts val="1800"/>
              </a:spcAft>
            </a:pPr>
            <a:r>
              <a:rPr sz="2000" b="1">
                <a:solidFill>
                  <a:srgbClr val="2E75D6"/>
                </a:solidFill>
                <a:latin typeface="Segoe UI"/>
              </a:rPr>
              <a:t>›  </a:t>
            </a:r>
            <a:r>
              <a:rPr sz="2000">
                <a:solidFill>
                  <a:srgbClr val="222B36"/>
                </a:solidFill>
                <a:latin typeface="Segoe UI"/>
              </a:rPr>
              <a:t>One thread per weight may UPDATE — no race possible</a:t>
            </a:r>
          </a:p>
          <a:p>
            <a:pPr>
              <a:spcAft>
                <a:spcPts val="1800"/>
              </a:spcAft>
            </a:pPr>
            <a:r>
              <a:rPr sz="2000" b="1">
                <a:solidFill>
                  <a:srgbClr val="2E75D6"/>
                </a:solidFill>
                <a:latin typeface="Segoe UI"/>
              </a:rPr>
              <a:t>›  </a:t>
            </a:r>
            <a:r>
              <a:rPr sz="2000">
                <a:solidFill>
                  <a:srgbClr val="222B36"/>
                </a:solidFill>
                <a:latin typeface="Segoe UI"/>
              </a:rPr>
              <a:t>Ownership, not locking, is the fix</a:t>
            </a:r>
          </a:p>
        </p:txBody>
      </p:sp>
      <p:sp>
        <p:nvSpPr>
          <p:cNvPr id="8" name="Rounded Rectangle 7"/>
          <p:cNvSpPr/>
          <p:nvPr/>
        </p:nvSpPr>
        <p:spPr>
          <a:xfrm>
            <a:off x="6492240" y="1737360"/>
            <a:ext cx="1188720" cy="45720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T1</a:t>
            </a:r>
          </a:p>
        </p:txBody>
      </p:sp>
      <p:cxnSp>
        <p:nvCxnSpPr>
          <p:cNvPr id="9" name="Connector 8"/>
          <p:cNvCxnSpPr/>
          <p:nvPr/>
        </p:nvCxnSpPr>
        <p:spPr>
          <a:xfrm>
            <a:off x="7680960" y="1965960"/>
            <a:ext cx="685800" cy="64008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7981504">
            <a:off x="8248044" y="2490666"/>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2331720"/>
            <a:ext cx="1188720" cy="45720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T2</a:t>
            </a:r>
          </a:p>
        </p:txBody>
      </p:sp>
      <p:cxnSp>
        <p:nvCxnSpPr>
          <p:cNvPr id="12" name="Connector 11"/>
          <p:cNvCxnSpPr/>
          <p:nvPr/>
        </p:nvCxnSpPr>
        <p:spPr>
          <a:xfrm>
            <a:off x="7680960" y="2560320"/>
            <a:ext cx="685800" cy="4572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628844">
            <a:off x="8229751" y="2532898"/>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92240" y="2926080"/>
            <a:ext cx="1188720" cy="45720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T3</a:t>
            </a:r>
          </a:p>
        </p:txBody>
      </p:sp>
      <p:cxnSp>
        <p:nvCxnSpPr>
          <p:cNvPr id="15" name="Connector 14"/>
          <p:cNvCxnSpPr/>
          <p:nvPr/>
        </p:nvCxnSpPr>
        <p:spPr>
          <a:xfrm flipV="1">
            <a:off x="7680960" y="2606040"/>
            <a:ext cx="685800" cy="54864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3080412">
            <a:off x="8244628" y="2580301"/>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92240" y="3520440"/>
            <a:ext cx="1188720" cy="45720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T4</a:t>
            </a:r>
          </a:p>
        </p:txBody>
      </p:sp>
      <p:cxnSp>
        <p:nvCxnSpPr>
          <p:cNvPr id="18" name="Connector 17"/>
          <p:cNvCxnSpPr/>
          <p:nvPr/>
        </p:nvCxnSpPr>
        <p:spPr>
          <a:xfrm flipV="1">
            <a:off x="7680960" y="2606040"/>
            <a:ext cx="685800" cy="114300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1857825">
            <a:off x="8262895" y="2596266"/>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2331720"/>
            <a:ext cx="1463040" cy="731520"/>
          </a:xfrm>
          <a:prstGeom prst="roundRect">
            <a:avLst/>
          </a:prstGeom>
          <a:solidFill>
            <a:srgbClr val="0B5394"/>
          </a:solidFill>
          <a:ln w="15875">
            <a:solidFill>
              <a:srgbClr val="0B539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FFFFFF"/>
                </a:solidFill>
                <a:latin typeface="Segoe UI"/>
              </a:rPr>
              <a:t>Σ grad</a:t>
            </a:r>
          </a:p>
        </p:txBody>
      </p:sp>
      <p:cxnSp>
        <p:nvCxnSpPr>
          <p:cNvPr id="21" name="Connector 20"/>
          <p:cNvCxnSpPr/>
          <p:nvPr/>
        </p:nvCxnSpPr>
        <p:spPr>
          <a:xfrm>
            <a:off x="9875520" y="2697480"/>
            <a:ext cx="640080" cy="0"/>
          </a:xfrm>
          <a:prstGeom prst="line">
            <a:avLst/>
          </a:prstGeom>
          <a:ln w="28575">
            <a:solidFill>
              <a:srgbClr val="1E7A46"/>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10378440" y="2628900"/>
            <a:ext cx="137160" cy="137160"/>
          </a:xfrm>
          <a:prstGeom prst="triangl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561320" y="2331720"/>
            <a:ext cx="1280160" cy="73152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1E7A46"/>
                </a:solidFill>
                <a:latin typeface="Segoe UI"/>
              </a:rPr>
              <a:t>1 owner
/ weight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10</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O  O  T     C  A  U  S  E</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Why Race Conditions Occur</a:t>
            </a:r>
          </a:p>
        </p:txBody>
      </p:sp>
      <p:sp>
        <p:nvSpPr>
          <p:cNvPr id="7" name="TextBox 6"/>
          <p:cNvSpPr txBox="1"/>
          <p:nvPr/>
        </p:nvSpPr>
        <p:spPr>
          <a:xfrm>
            <a:off x="548640" y="1645920"/>
            <a:ext cx="5029200" cy="365760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atomicAdd makes ONE add indivisible — not a whole formula</a:t>
            </a:r>
          </a:p>
          <a:p>
            <a:pPr>
              <a:spcAft>
                <a:spcPts val="1600"/>
              </a:spcAft>
            </a:pPr>
            <a:r>
              <a:rPr sz="1900" b="1">
                <a:solidFill>
                  <a:srgbClr val="2E75D6"/>
                </a:solidFill>
                <a:latin typeface="Segoe UI"/>
              </a:rPr>
              <a:t>›  </a:t>
            </a:r>
            <a:r>
              <a:rPr sz="1900">
                <a:solidFill>
                  <a:srgbClr val="222B36"/>
                </a:solidFill>
                <a:latin typeface="Segoe UI"/>
              </a:rPr>
              <a:t>Momentum/Adam updates are read → multiply → add → write</a:t>
            </a:r>
          </a:p>
          <a:p>
            <a:pPr>
              <a:spcAft>
                <a:spcPts val="1600"/>
              </a:spcAft>
            </a:pPr>
            <a:r>
              <a:rPr sz="1900" b="1">
                <a:solidFill>
                  <a:srgbClr val="2E75D6"/>
                </a:solidFill>
                <a:latin typeface="Segoe UI"/>
              </a:rPr>
              <a:t>›  </a:t>
            </a:r>
            <a:r>
              <a:rPr sz="1900">
                <a:solidFill>
                  <a:srgbClr val="222B36"/>
                </a:solidFill>
                <a:latin typeface="Segoe UI"/>
              </a:rPr>
              <a:t>Other threads can interleave between those steps</a:t>
            </a:r>
          </a:p>
        </p:txBody>
      </p:sp>
      <p:sp>
        <p:nvSpPr>
          <p:cNvPr id="8" name="Rounded Rectangle 7"/>
          <p:cNvSpPr/>
          <p:nvPr/>
        </p:nvSpPr>
        <p:spPr>
          <a:xfrm>
            <a:off x="6675120" y="1828800"/>
            <a:ext cx="2011680" cy="59436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read v</a:t>
            </a:r>
          </a:p>
        </p:txBody>
      </p:sp>
      <p:cxnSp>
        <p:nvCxnSpPr>
          <p:cNvPr id="9" name="Connector 8"/>
          <p:cNvCxnSpPr/>
          <p:nvPr/>
        </p:nvCxnSpPr>
        <p:spPr>
          <a:xfrm>
            <a:off x="7680960" y="2423160"/>
            <a:ext cx="0" cy="32004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10800000">
            <a:off x="7616952" y="2615184"/>
            <a:ext cx="128016" cy="12801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0" y="2743200"/>
            <a:ext cx="2011680" cy="59436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compute new v</a:t>
            </a:r>
          </a:p>
        </p:txBody>
      </p:sp>
      <p:cxnSp>
        <p:nvCxnSpPr>
          <p:cNvPr id="12" name="Connector 11"/>
          <p:cNvCxnSpPr/>
          <p:nvPr/>
        </p:nvCxnSpPr>
        <p:spPr>
          <a:xfrm>
            <a:off x="7680960" y="3337560"/>
            <a:ext cx="0" cy="32004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10800000">
            <a:off x="7616952" y="3529584"/>
            <a:ext cx="128016" cy="12801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75120" y="3657600"/>
            <a:ext cx="2011680" cy="59436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B43B2E"/>
                </a:solidFill>
                <a:latin typeface="Segoe UI"/>
              </a:rPr>
              <a:t>write v</a:t>
            </a:r>
          </a:p>
        </p:txBody>
      </p:sp>
      <p:sp>
        <p:nvSpPr>
          <p:cNvPr id="15" name="TextBox 14"/>
          <p:cNvSpPr txBox="1"/>
          <p:nvPr/>
        </p:nvSpPr>
        <p:spPr>
          <a:xfrm>
            <a:off x="8915400" y="1828800"/>
            <a:ext cx="2468880" cy="2423160"/>
          </a:xfrm>
          <a:prstGeom prst="rect">
            <a:avLst/>
          </a:prstGeom>
          <a:noFill/>
        </p:spPr>
        <p:txBody>
          <a:bodyPr wrap="square">
            <a:spAutoFit/>
          </a:bodyPr>
          <a:lstStyle/>
          <a:p>
            <a:pPr algn="l"/>
            <a:r>
              <a:rPr sz="1300" b="0" i="1">
                <a:solidFill>
                  <a:srgbClr val="B43B2E"/>
                </a:solidFill>
                <a:latin typeface="Segoe UI"/>
              </a:rPr>
              <a:t>Another thread can slip in
anywhere along this chain —
using a stale “v” and
overwriting your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11</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O  P  T  I  M  I  Z  E  R     A  N  A  L  Y  S  I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Why SGD Survives Unharmed</a:t>
            </a:r>
          </a:p>
        </p:txBody>
      </p:sp>
      <p:sp>
        <p:nvSpPr>
          <p:cNvPr id="7" name="TextBox 6"/>
          <p:cNvSpPr txBox="1"/>
          <p:nvPr/>
        </p:nvSpPr>
        <p:spPr>
          <a:xfrm>
            <a:off x="548640" y="1737360"/>
            <a:ext cx="5120640" cy="365760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SGD keeps NO persistent state — stateless by definition</a:t>
            </a:r>
          </a:p>
          <a:p>
            <a:pPr>
              <a:spcAft>
                <a:spcPts val="1600"/>
              </a:spcAft>
            </a:pPr>
            <a:r>
              <a:rPr sz="1900" b="1">
                <a:solidFill>
                  <a:srgbClr val="2E75D6"/>
                </a:solidFill>
                <a:latin typeface="Segoe UI"/>
              </a:rPr>
              <a:t>›  </a:t>
            </a:r>
            <a:r>
              <a:rPr sz="1900">
                <a:solidFill>
                  <a:srgbClr val="222B36"/>
                </a:solidFill>
                <a:latin typeface="Segoe UI"/>
              </a:rPr>
              <a:t>Every update is an independent, one-shot sum</a:t>
            </a:r>
          </a:p>
          <a:p>
            <a:pPr>
              <a:spcAft>
                <a:spcPts val="1600"/>
              </a:spcAft>
            </a:pPr>
            <a:r>
              <a:rPr sz="1900" b="1">
                <a:solidFill>
                  <a:srgbClr val="2E75D6"/>
                </a:solidFill>
                <a:latin typeface="Segoe UI"/>
              </a:rPr>
              <a:t>›  </a:t>
            </a:r>
            <a:r>
              <a:rPr sz="1900">
                <a:solidFill>
                  <a:srgbClr val="222B36"/>
                </a:solidFill>
                <a:latin typeface="Segoe UI"/>
              </a:rPr>
              <a:t>atomicAdd alone is correct — no formula to race on</a:t>
            </a:r>
          </a:p>
        </p:txBody>
      </p:sp>
      <p:sp>
        <p:nvSpPr>
          <p:cNvPr id="8" name="Rounded Rectangle 7"/>
          <p:cNvSpPr/>
          <p:nvPr/>
        </p:nvSpPr>
        <p:spPr>
          <a:xfrm>
            <a:off x="6949440" y="1920240"/>
            <a:ext cx="1188720" cy="50292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T1</a:t>
            </a:r>
          </a:p>
        </p:txBody>
      </p:sp>
      <p:cxnSp>
        <p:nvCxnSpPr>
          <p:cNvPr id="9" name="Connector 8"/>
          <p:cNvCxnSpPr/>
          <p:nvPr/>
        </p:nvCxnSpPr>
        <p:spPr>
          <a:xfrm>
            <a:off x="8138160" y="2176272"/>
            <a:ext cx="1005840" cy="521208"/>
          </a:xfrm>
          <a:prstGeom prst="line">
            <a:avLst/>
          </a:prstGeom>
          <a:ln w="28575">
            <a:solidFill>
              <a:srgbClr val="1E7A46"/>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7043542">
            <a:off x="9014529" y="2597347"/>
            <a:ext cx="137160" cy="137160"/>
          </a:xfrm>
          <a:prstGeom prst="triangl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9440" y="2651760"/>
            <a:ext cx="1188720" cy="50292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T2</a:t>
            </a:r>
          </a:p>
        </p:txBody>
      </p:sp>
      <p:cxnSp>
        <p:nvCxnSpPr>
          <p:cNvPr id="12" name="Connector 11"/>
          <p:cNvCxnSpPr/>
          <p:nvPr/>
        </p:nvCxnSpPr>
        <p:spPr>
          <a:xfrm flipV="1">
            <a:off x="8138160" y="2697480"/>
            <a:ext cx="1005840" cy="210312"/>
          </a:xfrm>
          <a:prstGeom prst="line">
            <a:avLst/>
          </a:prstGeom>
          <a:ln w="28575">
            <a:solidFill>
              <a:srgbClr val="1E7A46"/>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4691407">
            <a:off x="9008291" y="2642935"/>
            <a:ext cx="137160" cy="137160"/>
          </a:xfrm>
          <a:prstGeom prst="triangl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49440" y="3383280"/>
            <a:ext cx="1188720" cy="50292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T3</a:t>
            </a:r>
          </a:p>
        </p:txBody>
      </p:sp>
      <p:cxnSp>
        <p:nvCxnSpPr>
          <p:cNvPr id="15" name="Connector 14"/>
          <p:cNvCxnSpPr/>
          <p:nvPr/>
        </p:nvCxnSpPr>
        <p:spPr>
          <a:xfrm flipV="1">
            <a:off x="8138160" y="2697480"/>
            <a:ext cx="1005840" cy="941832"/>
          </a:xfrm>
          <a:prstGeom prst="line">
            <a:avLst/>
          </a:prstGeom>
          <a:ln w="28575">
            <a:solidFill>
              <a:srgbClr val="1E7A46"/>
            </a:solidFill>
          </a:ln>
          <a:effectLst/>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2812937">
            <a:off x="9025359" y="2675774"/>
            <a:ext cx="137160" cy="137160"/>
          </a:xfrm>
          <a:prstGeom prst="triangl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89720" y="2331720"/>
            <a:ext cx="1737360" cy="77724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E7A46"/>
                </a:solidFill>
                <a:latin typeface="Segoe UI"/>
              </a:rPr>
              <a:t>weight
✓ correct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12</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O  P  T  I  M  I  Z  E  R     A  N  A  L  Y  S  I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Why Momentum Collapses</a:t>
            </a:r>
          </a:p>
        </p:txBody>
      </p:sp>
      <p:sp>
        <p:nvSpPr>
          <p:cNvPr id="7" name="TextBox 6"/>
          <p:cNvSpPr txBox="1"/>
          <p:nvPr/>
        </p:nvSpPr>
        <p:spPr>
          <a:xfrm>
            <a:off x="548640" y="1737360"/>
            <a:ext cx="5120640" cy="292608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Velocity v carries memory from the previous step</a:t>
            </a:r>
          </a:p>
          <a:p>
            <a:pPr>
              <a:spcAft>
                <a:spcPts val="1600"/>
              </a:spcAft>
            </a:pPr>
            <a:r>
              <a:rPr sz="1900" b="1">
                <a:solidFill>
                  <a:srgbClr val="2E75D6"/>
                </a:solidFill>
                <a:latin typeface="Segoe UI"/>
              </a:rPr>
              <a:t>›  </a:t>
            </a:r>
            <a:r>
              <a:rPr sz="1900">
                <a:solidFill>
                  <a:srgbClr val="222B36"/>
                </a:solidFill>
                <a:latin typeface="Segoe UI"/>
              </a:rPr>
              <a:t>Concurrent read-modify-write on v is not atomic as a formula</a:t>
            </a:r>
          </a:p>
          <a:p>
            <a:pPr>
              <a:spcAft>
                <a:spcPts val="1600"/>
              </a:spcAft>
            </a:pPr>
            <a:r>
              <a:rPr sz="1900" b="1">
                <a:solidFill>
                  <a:srgbClr val="2E75D6"/>
                </a:solidFill>
                <a:latin typeface="Segoe UI"/>
              </a:rPr>
              <a:t>›  </a:t>
            </a:r>
            <a:r>
              <a:rPr sz="1900">
                <a:solidFill>
                  <a:srgbClr val="222B36"/>
                </a:solidFill>
                <a:latin typeface="Segoe UI"/>
              </a:rPr>
              <a:t>2,048 threads race on the same v, every batch</a:t>
            </a:r>
          </a:p>
        </p:txBody>
      </p:sp>
      <p:sp>
        <p:nvSpPr>
          <p:cNvPr id="8" name="Rounded Rectangle 7"/>
          <p:cNvSpPr/>
          <p:nvPr/>
        </p:nvSpPr>
        <p:spPr>
          <a:xfrm>
            <a:off x="6766560" y="1828800"/>
            <a:ext cx="1737360" cy="64008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Thread i</a:t>
            </a:r>
          </a:p>
        </p:txBody>
      </p:sp>
      <p:sp>
        <p:nvSpPr>
          <p:cNvPr id="9" name="Rounded Rectangle 8"/>
          <p:cNvSpPr/>
          <p:nvPr/>
        </p:nvSpPr>
        <p:spPr>
          <a:xfrm>
            <a:off x="6766560" y="2834640"/>
            <a:ext cx="1737360" cy="64008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0B2A4A"/>
                </a:solidFill>
                <a:latin typeface="Segoe UI"/>
              </a:rPr>
              <a:t>Thread j</a:t>
            </a:r>
          </a:p>
        </p:txBody>
      </p:sp>
      <p:sp>
        <p:nvSpPr>
          <p:cNvPr id="10" name="Rounded Rectangle 9"/>
          <p:cNvSpPr/>
          <p:nvPr/>
        </p:nvSpPr>
        <p:spPr>
          <a:xfrm>
            <a:off x="8961120" y="2331720"/>
            <a:ext cx="1463040" cy="73152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000" b="1">
                <a:solidFill>
                  <a:srgbClr val="B43B2E"/>
                </a:solidFill>
                <a:latin typeface="Segoe UI"/>
              </a:rPr>
              <a:t>v</a:t>
            </a:r>
          </a:p>
        </p:txBody>
      </p:sp>
      <p:cxnSp>
        <p:nvCxnSpPr>
          <p:cNvPr id="11" name="Connector 10"/>
          <p:cNvCxnSpPr/>
          <p:nvPr/>
        </p:nvCxnSpPr>
        <p:spPr>
          <a:xfrm>
            <a:off x="8503920" y="2148840"/>
            <a:ext cx="457200" cy="411480"/>
          </a:xfrm>
          <a:prstGeom prst="line">
            <a:avLst/>
          </a:prstGeom>
          <a:ln w="28575">
            <a:solidFill>
              <a:srgbClr val="B43B2E"/>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7919233">
            <a:off x="8841564" y="2445862"/>
            <a:ext cx="137160" cy="137160"/>
          </a:xfrm>
          <a:prstGeom prst="triangl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8503920" y="2834640"/>
            <a:ext cx="457200" cy="320040"/>
          </a:xfrm>
          <a:prstGeom prst="line">
            <a:avLst/>
          </a:prstGeom>
          <a:ln w="28575">
            <a:solidFill>
              <a:srgbClr val="B43B2E"/>
            </a:solidFill>
          </a:ln>
          <a:effectLst/>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3300479">
            <a:off x="8836357" y="2805388"/>
            <a:ext cx="137160" cy="137160"/>
          </a:xfrm>
          <a:prstGeom prst="triangl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0" y="3383280"/>
            <a:ext cx="2926080" cy="1188720"/>
          </a:xfrm>
          <a:prstGeom prst="roundRect">
            <a:avLst/>
          </a:prstGeom>
          <a:solidFill>
            <a:srgbClr val="FFFFFF"/>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4000" b="1">
                <a:solidFill>
                  <a:srgbClr val="B43B2E"/>
                </a:solidFill>
                <a:latin typeface="Segoe UI Semibold"/>
              </a:rPr>
              <a:t>97.2% → 0.0%</a:t>
            </a:r>
          </a:p>
          <a:p>
            <a:pPr algn="ctr"/>
            <a:r>
              <a:rPr sz="1300">
                <a:solidFill>
                  <a:srgbClr val="64748B"/>
                </a:solidFill>
                <a:latin typeface="Segoe UI"/>
              </a:rPr>
              <a:t>Momentum accuracy</a:t>
            </a:r>
          </a:p>
        </p:txBody>
      </p:sp>
      <p:sp>
        <p:nvSpPr>
          <p:cNvPr id="16" name="Rectangle 15"/>
          <p:cNvSpPr/>
          <p:nvPr/>
        </p:nvSpPr>
        <p:spPr>
          <a:xfrm>
            <a:off x="8686800" y="3383280"/>
            <a:ext cx="2926080" cy="82296"/>
          </a:xfrm>
          <a:prstGeom prst="rect">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13</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O  P  T  I  M  I  Z  E  R     A  N  A  L  Y  S  I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Why Adam Collapses</a:t>
            </a:r>
          </a:p>
        </p:txBody>
      </p:sp>
      <p:sp>
        <p:nvSpPr>
          <p:cNvPr id="7" name="TextBox 6"/>
          <p:cNvSpPr txBox="1"/>
          <p:nvPr/>
        </p:nvSpPr>
        <p:spPr>
          <a:xfrm>
            <a:off x="548640" y="1737360"/>
            <a:ext cx="5120640" cy="2926080"/>
          </a:xfrm>
          <a:prstGeom prst="rect">
            <a:avLst/>
          </a:prstGeom>
          <a:noFill/>
        </p:spPr>
        <p:txBody>
          <a:bodyPr wrap="square">
            <a:spAutoFit/>
          </a:bodyPr>
          <a:lstStyle/>
          <a:p>
            <a:pPr>
              <a:spcAft>
                <a:spcPts val="1600"/>
              </a:spcAft>
            </a:pPr>
            <a:r>
              <a:rPr sz="1900" b="1">
                <a:solidFill>
                  <a:srgbClr val="2E75D6"/>
                </a:solidFill>
                <a:latin typeface="Segoe UI"/>
              </a:rPr>
              <a:t>›  </a:t>
            </a:r>
            <a:r>
              <a:rPr sz="1900">
                <a:solidFill>
                  <a:srgbClr val="222B36"/>
                </a:solidFill>
                <a:latin typeface="Segoe UI"/>
              </a:rPr>
              <a:t>Two state buffers: first moment m, second moment v</a:t>
            </a:r>
          </a:p>
          <a:p>
            <a:pPr>
              <a:spcAft>
                <a:spcPts val="1600"/>
              </a:spcAft>
            </a:pPr>
            <a:r>
              <a:rPr sz="1900" b="1">
                <a:solidFill>
                  <a:srgbClr val="2E75D6"/>
                </a:solidFill>
                <a:latin typeface="Segoe UI"/>
              </a:rPr>
              <a:t>›  </a:t>
            </a:r>
            <a:r>
              <a:rPr sz="1900">
                <a:solidFill>
                  <a:srgbClr val="222B36"/>
                </a:solidFill>
                <a:latin typeface="Segoe UI"/>
              </a:rPr>
              <a:t>Same race — twice — on m AND v simultaneously</a:t>
            </a:r>
          </a:p>
          <a:p>
            <a:pPr>
              <a:spcAft>
                <a:spcPts val="1600"/>
              </a:spcAft>
            </a:pPr>
            <a:r>
              <a:rPr sz="1900" b="1">
                <a:solidFill>
                  <a:srgbClr val="2E75D6"/>
                </a:solidFill>
                <a:latin typeface="Segoe UI"/>
              </a:rPr>
              <a:t>›  </a:t>
            </a:r>
            <a:r>
              <a:rPr sz="1900">
                <a:solidFill>
                  <a:srgbClr val="222B36"/>
                </a:solidFill>
                <a:latin typeface="Segoe UI"/>
              </a:rPr>
              <a:t>Identical failure signature as Momentum</a:t>
            </a:r>
          </a:p>
        </p:txBody>
      </p:sp>
      <p:sp>
        <p:nvSpPr>
          <p:cNvPr id="8" name="Rounded Rectangle 7"/>
          <p:cNvSpPr/>
          <p:nvPr/>
        </p:nvSpPr>
        <p:spPr>
          <a:xfrm>
            <a:off x="6858000" y="1828800"/>
            <a:ext cx="1554480" cy="64008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000" b="1">
                <a:solidFill>
                  <a:srgbClr val="B43B2E"/>
                </a:solidFill>
                <a:latin typeface="Segoe UI"/>
              </a:rPr>
              <a:t>m</a:t>
            </a:r>
          </a:p>
        </p:txBody>
      </p:sp>
      <p:sp>
        <p:nvSpPr>
          <p:cNvPr id="9" name="Rounded Rectangle 8"/>
          <p:cNvSpPr/>
          <p:nvPr/>
        </p:nvSpPr>
        <p:spPr>
          <a:xfrm>
            <a:off x="6858000" y="2834640"/>
            <a:ext cx="1554480" cy="64008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000" b="1">
                <a:solidFill>
                  <a:srgbClr val="B43B2E"/>
                </a:solidFill>
                <a:latin typeface="Segoe UI"/>
              </a:rPr>
              <a:t>v</a:t>
            </a:r>
          </a:p>
        </p:txBody>
      </p:sp>
      <p:sp>
        <p:nvSpPr>
          <p:cNvPr id="10" name="TextBox 9"/>
          <p:cNvSpPr txBox="1"/>
          <p:nvPr/>
        </p:nvSpPr>
        <p:spPr>
          <a:xfrm>
            <a:off x="8595360" y="1828800"/>
            <a:ext cx="91440" cy="1645920"/>
          </a:xfrm>
          <a:prstGeom prst="rect">
            <a:avLst/>
          </a:prstGeom>
          <a:noFill/>
        </p:spPr>
        <p:txBody>
          <a:bodyPr wrap="square">
            <a:spAutoFit/>
          </a:bodyPr>
          <a:lstStyle/>
          <a:p>
            <a:pPr algn="ctr"/>
            <a:r>
              <a:rPr sz="100" b="0" i="0">
                <a:solidFill>
                  <a:srgbClr val="64748B"/>
                </a:solidFill>
                <a:latin typeface="Segoe UI"/>
              </a:rPr>
              <a:t/>
            </a:r>
          </a:p>
        </p:txBody>
      </p:sp>
      <p:sp>
        <p:nvSpPr>
          <p:cNvPr id="11" name="Rounded Rectangle 10"/>
          <p:cNvSpPr/>
          <p:nvPr/>
        </p:nvSpPr>
        <p:spPr>
          <a:xfrm>
            <a:off x="8595360" y="2011680"/>
            <a:ext cx="3017520" cy="1463040"/>
          </a:xfrm>
          <a:prstGeom prst="roundRect">
            <a:avLst/>
          </a:prstGeom>
          <a:solidFill>
            <a:srgbClr val="FFFFFF"/>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4000" b="1">
                <a:solidFill>
                  <a:srgbClr val="B43B2E"/>
                </a:solidFill>
                <a:latin typeface="Segoe UI Semibold"/>
              </a:rPr>
              <a:t>97.2% → 0.0%</a:t>
            </a:r>
          </a:p>
          <a:p>
            <a:pPr algn="ctr"/>
            <a:r>
              <a:rPr sz="1300">
                <a:solidFill>
                  <a:srgbClr val="64748B"/>
                </a:solidFill>
                <a:latin typeface="Segoe UI"/>
              </a:rPr>
              <a:t>Adam accuracy</a:t>
            </a:r>
          </a:p>
        </p:txBody>
      </p:sp>
      <p:sp>
        <p:nvSpPr>
          <p:cNvPr id="12" name="Rectangle 11"/>
          <p:cNvSpPr/>
          <p:nvPr/>
        </p:nvSpPr>
        <p:spPr>
          <a:xfrm>
            <a:off x="8595360" y="2011680"/>
            <a:ext cx="3017520" cy="82296"/>
          </a:xfrm>
          <a:prstGeom prst="rect">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14</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T  H  E     F  I  X</a:t>
            </a:r>
          </a:p>
        </p:txBody>
      </p:sp>
      <p:sp>
        <p:nvSpPr>
          <p:cNvPr id="6" name="TextBox 5"/>
          <p:cNvSpPr txBox="1"/>
          <p:nvPr/>
        </p:nvSpPr>
        <p:spPr>
          <a:xfrm>
            <a:off x="457200" y="566928"/>
            <a:ext cx="11247120" cy="822960"/>
          </a:xfrm>
          <a:prstGeom prst="rect">
            <a:avLst/>
          </a:prstGeom>
          <a:noFill/>
        </p:spPr>
        <p:txBody>
          <a:bodyPr wrap="none">
            <a:spAutoFit/>
          </a:bodyPr>
          <a:lstStyle/>
          <a:p>
            <a:r>
              <a:rPr sz="3000" b="1">
                <a:solidFill>
                  <a:srgbClr val="0B2A4A"/>
                </a:solidFill>
                <a:latin typeface="Segoe UI Semibold"/>
              </a:rPr>
              <a:t>2PGA, in Two Phases</a:t>
            </a:r>
          </a:p>
        </p:txBody>
      </p:sp>
      <p:sp>
        <p:nvSpPr>
          <p:cNvPr id="7" name="Rounded Rectangle 6"/>
          <p:cNvSpPr/>
          <p:nvPr/>
        </p:nvSpPr>
        <p:spPr>
          <a:xfrm>
            <a:off x="548640" y="1691640"/>
            <a:ext cx="3291840" cy="19202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l"/>
            <a:r>
              <a:rPr sz="1300" b="1">
                <a:solidFill>
                  <a:srgbClr val="0B2A4A"/>
                </a:solidFill>
                <a:latin typeface="Segoe UI"/>
              </a:rPr>
              <a:t>PHASE 1
atomicAdd(&amp;grad_w[i], g_i);
2,048 threads — safe,
because “+” commutes</a:t>
            </a:r>
          </a:p>
        </p:txBody>
      </p:sp>
      <p:cxnSp>
        <p:nvCxnSpPr>
          <p:cNvPr id="8" name="Connector 7"/>
          <p:cNvCxnSpPr/>
          <p:nvPr/>
        </p:nvCxnSpPr>
        <p:spPr>
          <a:xfrm>
            <a:off x="3931920" y="2651760"/>
            <a:ext cx="5943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4389120" y="258318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148840"/>
            <a:ext cx="1234440" cy="1005840"/>
          </a:xfrm>
          <a:prstGeom prst="roundRect">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64748B"/>
                </a:solidFill>
                <a:latin typeface="Segoe UI"/>
              </a:rPr>
              <a:t>SYNC
cudaDevice
Synchronize()</a:t>
            </a:r>
          </a:p>
        </p:txBody>
      </p:sp>
      <p:cxnSp>
        <p:nvCxnSpPr>
          <p:cNvPr id="11" name="Connector 10"/>
          <p:cNvCxnSpPr/>
          <p:nvPr/>
        </p:nvCxnSpPr>
        <p:spPr>
          <a:xfrm>
            <a:off x="5806440" y="2651760"/>
            <a:ext cx="5943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6263640" y="258318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1691640"/>
            <a:ext cx="3291840" cy="192024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l"/>
            <a:r>
              <a:rPr sz="1300" b="1">
                <a:solidFill>
                  <a:srgbClr val="1E7A46"/>
                </a:solidFill>
                <a:latin typeface="Segoe UI"/>
              </a:rPr>
              <a:t>PHASE 2
v = beta*v + g;
theta[i] -= lr*v;
1 thread / weight —
no race, no atomics needed</a:t>
            </a:r>
          </a:p>
        </p:txBody>
      </p:sp>
      <p:sp>
        <p:nvSpPr>
          <p:cNvPr id="14" name="TextBox 13"/>
          <p:cNvSpPr txBox="1"/>
          <p:nvPr/>
        </p:nvSpPr>
        <p:spPr>
          <a:xfrm>
            <a:off x="9921240" y="1691640"/>
            <a:ext cx="1828800" cy="1920240"/>
          </a:xfrm>
          <a:prstGeom prst="rect">
            <a:avLst/>
          </a:prstGeom>
          <a:noFill/>
        </p:spPr>
        <p:txBody>
          <a:bodyPr wrap="square">
            <a:spAutoFit/>
          </a:bodyPr>
          <a:lstStyle/>
          <a:p>
            <a:pPr algn="ctr"/>
            <a:r>
              <a:rPr sz="1300" b="0" i="1">
                <a:solidFill>
                  <a:srgbClr val="64748B"/>
                </a:solidFill>
                <a:latin typeface="Segoe UI"/>
              </a:rPr>
              <a:t>Cost: &lt; 0.01 ms
per batch (&lt; 0.5%
of epoch time)</a:t>
            </a:r>
          </a:p>
        </p:txBody>
      </p:sp>
      <p:sp>
        <p:nvSpPr>
          <p:cNvPr id="15" name="TextBox 14"/>
          <p:cNvSpPr txBox="1"/>
          <p:nvPr/>
        </p:nvSpPr>
        <p:spPr>
          <a:xfrm>
            <a:off x="548640" y="3886200"/>
            <a:ext cx="10881360" cy="1737360"/>
          </a:xfrm>
          <a:prstGeom prst="rect">
            <a:avLst/>
          </a:prstGeom>
          <a:noFill/>
        </p:spPr>
        <p:txBody>
          <a:bodyPr wrap="square">
            <a:spAutoFit/>
          </a:bodyPr>
          <a:lstStyle/>
          <a:p>
            <a:pPr>
              <a:spcAft>
                <a:spcPts val="1000"/>
              </a:spcAft>
            </a:pPr>
            <a:r>
              <a:rPr sz="1700" b="1">
                <a:solidFill>
                  <a:srgbClr val="2E75D6"/>
                </a:solidFill>
                <a:latin typeface="Segoe UI"/>
              </a:rPr>
              <a:t>›  </a:t>
            </a:r>
            <a:r>
              <a:rPr sz="1700">
                <a:solidFill>
                  <a:srgbClr val="222B36"/>
                </a:solidFill>
                <a:latin typeface="Segoe UI"/>
              </a:rPr>
              <a:t>Not slower mini-batch SGD in disguise — Phase 1 was always correct</a:t>
            </a:r>
          </a:p>
          <a:p>
            <a:pPr>
              <a:spcAft>
                <a:spcPts val="1000"/>
              </a:spcAft>
            </a:pPr>
            <a:r>
              <a:rPr sz="1700" b="1">
                <a:solidFill>
                  <a:srgbClr val="2E75D6"/>
                </a:solidFill>
                <a:latin typeface="Segoe UI"/>
              </a:rPr>
              <a:t>›  </a:t>
            </a:r>
            <a:r>
              <a:rPr sz="1700">
                <a:solidFill>
                  <a:srgbClr val="222B36"/>
                </a:solidFill>
                <a:latin typeface="Segoe UI"/>
              </a:rPr>
              <a:t>The entire fix lives in Phase 2 alone: exactly one owner per weight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15</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I  M  P  L  E  M  E  N  T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000" b="1">
                <a:solidFill>
                  <a:srgbClr val="0B2A4A"/>
                </a:solidFill>
                <a:latin typeface="Segoe UI Semibold"/>
              </a:rPr>
              <a:t>Kernel-by-Kernel Execution</a:t>
            </a:r>
          </a:p>
        </p:txBody>
      </p:sp>
      <p:sp>
        <p:nvSpPr>
          <p:cNvPr id="7" name="Rectangle 6"/>
          <p:cNvSpPr/>
          <p:nvPr/>
        </p:nvSpPr>
        <p:spPr>
          <a:xfrm>
            <a:off x="594360" y="1691640"/>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init_activations</a:t>
            </a:r>
          </a:p>
        </p:txBody>
      </p:sp>
      <p:cxnSp>
        <p:nvCxnSpPr>
          <p:cNvPr id="8" name="Connector 7"/>
          <p:cNvCxnSpPr/>
          <p:nvPr/>
        </p:nvCxnSpPr>
        <p:spPr>
          <a:xfrm>
            <a:off x="1636775" y="2167128"/>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10800000">
            <a:off x="1611172" y="2243938"/>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71031" y="1691640"/>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fwd_linear</a:t>
            </a:r>
          </a:p>
        </p:txBody>
      </p:sp>
      <p:cxnSp>
        <p:nvCxnSpPr>
          <p:cNvPr id="11" name="Connector 10"/>
          <p:cNvCxnSpPr/>
          <p:nvPr/>
        </p:nvCxnSpPr>
        <p:spPr>
          <a:xfrm>
            <a:off x="7013446" y="2167128"/>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10800000">
            <a:off x="6987843" y="2243938"/>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2295144"/>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bn_stats</a:t>
            </a:r>
          </a:p>
        </p:txBody>
      </p:sp>
      <p:cxnSp>
        <p:nvCxnSpPr>
          <p:cNvPr id="14" name="Connector 13"/>
          <p:cNvCxnSpPr/>
          <p:nvPr/>
        </p:nvCxnSpPr>
        <p:spPr>
          <a:xfrm>
            <a:off x="1636775" y="2770632"/>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10800000">
            <a:off x="1611172" y="2847442"/>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71031" y="2295144"/>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bn_apply</a:t>
            </a:r>
          </a:p>
        </p:txBody>
      </p:sp>
      <p:cxnSp>
        <p:nvCxnSpPr>
          <p:cNvPr id="17" name="Connector 16"/>
          <p:cNvCxnSpPr/>
          <p:nvPr/>
        </p:nvCxnSpPr>
        <p:spPr>
          <a:xfrm>
            <a:off x="7013446" y="2770632"/>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10800000">
            <a:off x="6987843" y="2847442"/>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2898648"/>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activation</a:t>
            </a:r>
          </a:p>
        </p:txBody>
      </p:sp>
      <p:cxnSp>
        <p:nvCxnSpPr>
          <p:cNvPr id="20" name="Connector 19"/>
          <p:cNvCxnSpPr/>
          <p:nvPr/>
        </p:nvCxnSpPr>
        <p:spPr>
          <a:xfrm>
            <a:off x="1636775" y="3374136"/>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0800000">
            <a:off x="1611172" y="3450946"/>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71031" y="2898648"/>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output_error</a:t>
            </a:r>
          </a:p>
        </p:txBody>
      </p:sp>
      <p:cxnSp>
        <p:nvCxnSpPr>
          <p:cNvPr id="23" name="Connector 22"/>
          <p:cNvCxnSpPr/>
          <p:nvPr/>
        </p:nvCxnSpPr>
        <p:spPr>
          <a:xfrm>
            <a:off x="7013446" y="3374136"/>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10800000">
            <a:off x="6987843" y="3450946"/>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502152"/>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backward_delta</a:t>
            </a:r>
          </a:p>
        </p:txBody>
      </p:sp>
      <p:cxnSp>
        <p:nvCxnSpPr>
          <p:cNvPr id="26" name="Connector 25"/>
          <p:cNvCxnSpPr/>
          <p:nvPr/>
        </p:nvCxnSpPr>
        <p:spPr>
          <a:xfrm>
            <a:off x="1636775" y="3977640"/>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0800000">
            <a:off x="1611172" y="4054450"/>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71031" y="3502152"/>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bn_backward_stats</a:t>
            </a:r>
          </a:p>
        </p:txBody>
      </p:sp>
      <p:cxnSp>
        <p:nvCxnSpPr>
          <p:cNvPr id="29" name="Connector 28"/>
          <p:cNvCxnSpPr/>
          <p:nvPr/>
        </p:nvCxnSpPr>
        <p:spPr>
          <a:xfrm>
            <a:off x="7013446" y="3977640"/>
            <a:ext cx="0" cy="128016"/>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10800000">
            <a:off x="6987843" y="4054450"/>
            <a:ext cx="51206" cy="51206"/>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4105656"/>
            <a:ext cx="2084831" cy="475488"/>
          </a:xfrm>
          <a:prstGeom prst="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0B2A4A"/>
                </a:solidFill>
                <a:latin typeface="Segoe UI"/>
              </a:rPr>
              <a:t>bn_backward_delta</a:t>
            </a:r>
          </a:p>
        </p:txBody>
      </p:sp>
      <p:sp>
        <p:nvSpPr>
          <p:cNvPr id="32" name="Rectangle 31"/>
          <p:cNvSpPr/>
          <p:nvPr/>
        </p:nvSpPr>
        <p:spPr>
          <a:xfrm>
            <a:off x="5971031" y="4105656"/>
            <a:ext cx="2084831" cy="475488"/>
          </a:xfrm>
          <a:prstGeom prst="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1E7A46"/>
                </a:solidFill>
                <a:latin typeface="Segoe UI"/>
              </a:rPr>
              <a:t>optimizer_update</a:t>
            </a:r>
          </a:p>
        </p:txBody>
      </p:sp>
      <p:sp>
        <p:nvSpPr>
          <p:cNvPr id="33" name="TextBox 32"/>
          <p:cNvSpPr txBox="1"/>
          <p:nvPr/>
        </p:nvSpPr>
        <p:spPr>
          <a:xfrm>
            <a:off x="2816351" y="1645920"/>
            <a:ext cx="2926080" cy="365760"/>
          </a:xfrm>
          <a:prstGeom prst="rect">
            <a:avLst/>
          </a:prstGeom>
          <a:noFill/>
        </p:spPr>
        <p:txBody>
          <a:bodyPr wrap="square">
            <a:spAutoFit/>
          </a:bodyPr>
          <a:lstStyle/>
          <a:p>
            <a:pPr algn="ctr"/>
            <a:r>
              <a:rPr sz="1200" b="1" i="0">
                <a:solidFill>
                  <a:srgbClr val="2E75D6"/>
                </a:solidFill>
                <a:latin typeface="Segoe UI"/>
              </a:rPr>
              <a:t>Forward + BN</a:t>
            </a:r>
          </a:p>
        </p:txBody>
      </p:sp>
      <p:sp>
        <p:nvSpPr>
          <p:cNvPr id="34" name="TextBox 33"/>
          <p:cNvSpPr txBox="1"/>
          <p:nvPr/>
        </p:nvSpPr>
        <p:spPr>
          <a:xfrm>
            <a:off x="8193022" y="1645920"/>
            <a:ext cx="2926080" cy="365760"/>
          </a:xfrm>
          <a:prstGeom prst="rect">
            <a:avLst/>
          </a:prstGeom>
          <a:noFill/>
        </p:spPr>
        <p:txBody>
          <a:bodyPr wrap="square">
            <a:spAutoFit/>
          </a:bodyPr>
          <a:lstStyle/>
          <a:p>
            <a:pPr algn="ctr"/>
            <a:r>
              <a:rPr sz="1200" b="1" i="0">
                <a:solidFill>
                  <a:srgbClr val="2E75D6"/>
                </a:solidFill>
                <a:latin typeface="Segoe UI"/>
              </a:rPr>
              <a:t>Backward + Update</a:t>
            </a:r>
          </a:p>
        </p:txBody>
      </p:sp>
      <p:sp>
        <p:nvSpPr>
          <p:cNvPr id="35" name="TextBox 34"/>
          <p:cNvSpPr txBox="1"/>
          <p:nvPr/>
        </p:nvSpPr>
        <p:spPr>
          <a:xfrm>
            <a:off x="8412480" y="3840480"/>
            <a:ext cx="3291840" cy="2011680"/>
          </a:xfrm>
          <a:prstGeom prst="rect">
            <a:avLst/>
          </a:prstGeom>
          <a:noFill/>
        </p:spPr>
        <p:txBody>
          <a:bodyPr wrap="square">
            <a:spAutoFit/>
          </a:bodyPr>
          <a:lstStyle/>
          <a:p>
            <a:pPr algn="l"/>
            <a:r>
              <a:rPr sz="1300" b="0" i="1">
                <a:solidFill>
                  <a:srgbClr val="64748B"/>
                </a:solidFill>
                <a:latin typeface="Segoe UI"/>
              </a:rPr>
              <a:t>Every sync point guards a
batch-statistics dependency.
Same barrier discipline as 2PGA,
applied per layer.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16</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I  M  P  L  E  M  E  N  T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GPU Memory Layout</a:t>
            </a:r>
          </a:p>
        </p:txBody>
      </p:sp>
      <p:sp>
        <p:nvSpPr>
          <p:cNvPr id="7" name="TextBox 6"/>
          <p:cNvSpPr txBox="1"/>
          <p:nvPr/>
        </p:nvSpPr>
        <p:spPr>
          <a:xfrm>
            <a:off x="548640" y="1691640"/>
            <a:ext cx="5029200" cy="2743200"/>
          </a:xfrm>
          <a:prstGeom prst="rect">
            <a:avLst/>
          </a:prstGeom>
          <a:noFill/>
        </p:spPr>
        <p:txBody>
          <a:bodyPr wrap="square">
            <a:spAutoFit/>
          </a:bodyPr>
          <a:lstStyle/>
          <a:p>
            <a:pPr>
              <a:spcAft>
                <a:spcPts val="1400"/>
              </a:spcAft>
            </a:pPr>
            <a:r>
              <a:rPr sz="1800" b="1">
                <a:solidFill>
                  <a:srgbClr val="2E75D6"/>
                </a:solidFill>
                <a:latin typeface="Segoe UI"/>
              </a:rPr>
              <a:t>›  </a:t>
            </a:r>
            <a:r>
              <a:rPr sz="1800">
                <a:solidFill>
                  <a:srgbClr val="222B36"/>
                </a:solidFill>
                <a:latin typeface="Segoe UI"/>
              </a:rPr>
              <a:t>Dataset resident in VRAM for the whole run</a:t>
            </a:r>
          </a:p>
          <a:p>
            <a:pPr>
              <a:spcAft>
                <a:spcPts val="1400"/>
              </a:spcAft>
            </a:pPr>
            <a:r>
              <a:rPr sz="1800" b="1">
                <a:solidFill>
                  <a:srgbClr val="2E75D6"/>
                </a:solidFill>
                <a:latin typeface="Segoe UI"/>
              </a:rPr>
              <a:t>›  </a:t>
            </a:r>
            <a:r>
              <a:rPr sz="1800">
                <a:solidFill>
                  <a:srgbClr val="222B36"/>
                </a:solidFill>
                <a:latin typeface="Segoe UI"/>
              </a:rPr>
              <a:t>Weights/biases: one flat array, O(1) offset addressing</a:t>
            </a:r>
          </a:p>
          <a:p>
            <a:pPr>
              <a:spcAft>
                <a:spcPts val="1400"/>
              </a:spcAft>
            </a:pPr>
            <a:r>
              <a:rPr sz="1800" b="1">
                <a:solidFill>
                  <a:srgbClr val="2E75D6"/>
                </a:solidFill>
                <a:latin typeface="Segoe UI"/>
              </a:rPr>
              <a:t>›  </a:t>
            </a:r>
            <a:r>
              <a:rPr sz="1800">
                <a:solidFill>
                  <a:srgbClr val="222B36"/>
                </a:solidFill>
                <a:latin typeface="Segoe UI"/>
              </a:rPr>
              <a:t>Per-sample activations/deltas reused every batch</a:t>
            </a:r>
          </a:p>
        </p:txBody>
      </p:sp>
      <p:graphicFrame>
        <p:nvGraphicFramePr>
          <p:cNvPr id="8" name="Chart 7"/>
          <p:cNvGraphicFramePr>
            <a:graphicFrameLocks noGrp="1"/>
          </p:cNvGraphicFramePr>
          <p:nvPr/>
        </p:nvGraphicFramePr>
        <p:xfrm>
          <a:off x="5943600" y="1554480"/>
          <a:ext cx="5760720" cy="420624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17</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I  M  P  L  E  M  E  N  T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Batch Normalization on a GPU</a:t>
            </a:r>
          </a:p>
        </p:txBody>
      </p:sp>
      <p:sp>
        <p:nvSpPr>
          <p:cNvPr id="7" name="TextBox 6"/>
          <p:cNvSpPr txBox="1"/>
          <p:nvPr/>
        </p:nvSpPr>
        <p:spPr>
          <a:xfrm>
            <a:off x="548640" y="1691640"/>
            <a:ext cx="4206240" cy="2743200"/>
          </a:xfrm>
          <a:prstGeom prst="rect">
            <a:avLst/>
          </a:prstGeom>
          <a:noFill/>
        </p:spPr>
        <p:txBody>
          <a:bodyPr wrap="square">
            <a:spAutoFit/>
          </a:bodyPr>
          <a:lstStyle/>
          <a:p>
            <a:pPr>
              <a:spcAft>
                <a:spcPts val="1400"/>
              </a:spcAft>
            </a:pPr>
            <a:r>
              <a:rPr sz="1700" b="1">
                <a:solidFill>
                  <a:srgbClr val="2E75D6"/>
                </a:solidFill>
                <a:latin typeface="Segoe UI"/>
              </a:rPr>
              <a:t>›  </a:t>
            </a:r>
            <a:r>
              <a:rPr sz="1700">
                <a:solidFill>
                  <a:srgbClr val="222B36"/>
                </a:solidFill>
                <a:latin typeface="Segoe UI"/>
              </a:rPr>
              <a:t>Needs every sample's value before computing mean/variance</a:t>
            </a:r>
          </a:p>
          <a:p>
            <a:pPr>
              <a:spcAft>
                <a:spcPts val="1400"/>
              </a:spcAft>
            </a:pPr>
            <a:r>
              <a:rPr sz="1700" b="1">
                <a:solidFill>
                  <a:srgbClr val="2E75D6"/>
                </a:solidFill>
                <a:latin typeface="Segoe UI"/>
              </a:rPr>
              <a:t>›  </a:t>
            </a:r>
            <a:r>
              <a:rPr sz="1700">
                <a:solidFill>
                  <a:srgbClr val="222B36"/>
                </a:solidFill>
                <a:latin typeface="Segoe UI"/>
              </a:rPr>
              <a:t>Solved via staged kernels + explicit sync barriers</a:t>
            </a:r>
          </a:p>
          <a:p>
            <a:pPr>
              <a:spcAft>
                <a:spcPts val="1400"/>
              </a:spcAft>
            </a:pPr>
            <a:r>
              <a:rPr sz="1700" b="1">
                <a:solidFill>
                  <a:srgbClr val="2E75D6"/>
                </a:solidFill>
                <a:latin typeface="Segoe UI"/>
              </a:rPr>
              <a:t>›  </a:t>
            </a:r>
            <a:r>
              <a:rPr sz="1700">
                <a:solidFill>
                  <a:srgbClr val="222B36"/>
                </a:solidFill>
                <a:latin typeface="Segoe UI"/>
              </a:rPr>
              <a:t>Same barrier principle as 2PGA — applied to statistics</a:t>
            </a:r>
          </a:p>
        </p:txBody>
      </p:sp>
      <p:sp>
        <p:nvSpPr>
          <p:cNvPr id="8" name="Rounded Rectangle 7"/>
          <p:cNvSpPr/>
          <p:nvPr/>
        </p:nvSpPr>
        <p:spPr>
          <a:xfrm>
            <a:off x="5029200" y="2743200"/>
            <a:ext cx="1234440" cy="7772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linear</a:t>
            </a:r>
          </a:p>
        </p:txBody>
      </p:sp>
      <p:cxnSp>
        <p:nvCxnSpPr>
          <p:cNvPr id="9" name="Connector 8"/>
          <p:cNvCxnSpPr/>
          <p:nvPr/>
        </p:nvCxnSpPr>
        <p:spPr>
          <a:xfrm>
            <a:off x="6263640" y="3131820"/>
            <a:ext cx="1371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5400000">
            <a:off x="6345936" y="3104388"/>
            <a:ext cx="54864" cy="54864"/>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743200"/>
            <a:ext cx="1234440" cy="777240"/>
          </a:xfrm>
          <a:prstGeom prst="roundRect">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64748B"/>
                </a:solidFill>
                <a:latin typeface="Segoe UI"/>
              </a:rPr>
              <a:t>sync</a:t>
            </a:r>
          </a:p>
        </p:txBody>
      </p:sp>
      <p:cxnSp>
        <p:nvCxnSpPr>
          <p:cNvPr id="12" name="Connector 11"/>
          <p:cNvCxnSpPr/>
          <p:nvPr/>
        </p:nvCxnSpPr>
        <p:spPr>
          <a:xfrm>
            <a:off x="7635240" y="3131820"/>
            <a:ext cx="1371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7717536" y="3104388"/>
            <a:ext cx="54864" cy="54864"/>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0" y="2743200"/>
            <a:ext cx="1234440" cy="7772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stats</a:t>
            </a:r>
          </a:p>
        </p:txBody>
      </p:sp>
      <p:cxnSp>
        <p:nvCxnSpPr>
          <p:cNvPr id="15" name="Connector 14"/>
          <p:cNvCxnSpPr/>
          <p:nvPr/>
        </p:nvCxnSpPr>
        <p:spPr>
          <a:xfrm>
            <a:off x="9006840" y="3131820"/>
            <a:ext cx="1371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9089136" y="3104388"/>
            <a:ext cx="54864" cy="54864"/>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0" y="2743200"/>
            <a:ext cx="1234440" cy="7772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apply</a:t>
            </a:r>
          </a:p>
        </p:txBody>
      </p:sp>
      <p:cxnSp>
        <p:nvCxnSpPr>
          <p:cNvPr id="18" name="Connector 17"/>
          <p:cNvCxnSpPr/>
          <p:nvPr/>
        </p:nvCxnSpPr>
        <p:spPr>
          <a:xfrm>
            <a:off x="10378440" y="3131820"/>
            <a:ext cx="13716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10460736" y="3104388"/>
            <a:ext cx="54864" cy="54864"/>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515600" y="2743200"/>
            <a:ext cx="1234440" cy="77724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activate</a:t>
            </a:r>
          </a:p>
        </p:txBody>
      </p:sp>
      <p:sp>
        <p:nvSpPr>
          <p:cNvPr id="21" name="TextBox 20"/>
          <p:cNvSpPr txBox="1"/>
          <p:nvPr/>
        </p:nvSpPr>
        <p:spPr>
          <a:xfrm>
            <a:off x="548640" y="4846320"/>
            <a:ext cx="10881360" cy="1188720"/>
          </a:xfrm>
          <a:prstGeom prst="rect">
            <a:avLst/>
          </a:prstGeom>
          <a:noFill/>
        </p:spPr>
        <p:txBody>
          <a:bodyPr wrap="square">
            <a:spAutoFit/>
          </a:bodyPr>
          <a:lstStyle/>
          <a:p>
            <a:pPr algn="ctr"/>
            <a:r>
              <a:rPr sz="1600" b="0" i="0">
                <a:solidFill>
                  <a:srgbClr val="0B2A4A"/>
                </a:solidFill>
                <a:latin typeface="Segoe UI"/>
              </a:rPr>
              <a:t>μ = (1/|B|)Σ zᵢ      σ² = (1/|B|)Σ (zᵢ − μ)²      ẑᵢ = (zᵢ − μ) / √(σ² + ε)      ᵣᵢ = γẑᵢ + β</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18</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I  M  P  L  E  M  E  N  T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Learning Rate Scheduling</a:t>
            </a:r>
          </a:p>
        </p:txBody>
      </p:sp>
      <p:sp>
        <p:nvSpPr>
          <p:cNvPr id="7" name="TextBox 6"/>
          <p:cNvSpPr txBox="1"/>
          <p:nvPr/>
        </p:nvSpPr>
        <p:spPr>
          <a:xfrm>
            <a:off x="548640" y="1691640"/>
            <a:ext cx="5120640" cy="2743200"/>
          </a:xfrm>
          <a:prstGeom prst="rect">
            <a:avLst/>
          </a:prstGeom>
          <a:noFill/>
        </p:spPr>
        <p:txBody>
          <a:bodyPr wrap="square">
            <a:spAutoFit/>
          </a:bodyPr>
          <a:lstStyle/>
          <a:p>
            <a:pPr>
              <a:spcAft>
                <a:spcPts val="1600"/>
              </a:spcAft>
            </a:pPr>
            <a:r>
              <a:rPr sz="1800" b="1">
                <a:solidFill>
                  <a:srgbClr val="2E75D6"/>
                </a:solidFill>
                <a:latin typeface="Segoe UI"/>
              </a:rPr>
              <a:t>›  </a:t>
            </a:r>
            <a:r>
              <a:rPr sz="1800">
                <a:solidFill>
                  <a:srgbClr val="222B36"/>
                </a:solidFill>
                <a:latin typeface="Segoe UI"/>
              </a:rPr>
              <a:t>Step, exponential, and cosine decay all supported</a:t>
            </a:r>
          </a:p>
          <a:p>
            <a:pPr>
              <a:spcAft>
                <a:spcPts val="1600"/>
              </a:spcAft>
            </a:pPr>
            <a:r>
              <a:rPr sz="1800" b="1">
                <a:solidFill>
                  <a:srgbClr val="2E75D6"/>
                </a:solidFill>
                <a:latin typeface="Segoe UI"/>
              </a:rPr>
              <a:t>›  </a:t>
            </a:r>
            <a:r>
              <a:rPr sz="1800">
                <a:solidFill>
                  <a:srgbClr val="222B36"/>
                </a:solidFill>
                <a:latin typeface="Segoe UI"/>
              </a:rPr>
              <a:t>Indexed by GLOBAL STEP, not epoch — a critical detail</a:t>
            </a:r>
          </a:p>
          <a:p>
            <a:pPr>
              <a:spcAft>
                <a:spcPts val="1600"/>
              </a:spcAft>
            </a:pPr>
            <a:r>
              <a:rPr sz="1800" b="1">
                <a:solidFill>
                  <a:srgbClr val="2E75D6"/>
                </a:solidFill>
                <a:latin typeface="Segoe UI"/>
              </a:rPr>
              <a:t>›  </a:t>
            </a:r>
            <a:r>
              <a:rPr sz="1800">
                <a:solidFill>
                  <a:srgbClr val="222B36"/>
                </a:solidFill>
                <a:latin typeface="Segoe UI"/>
              </a:rPr>
              <a:t>Cosine annealing used for the Adam+LR configuration</a:t>
            </a:r>
          </a:p>
        </p:txBody>
      </p:sp>
      <p:graphicFrame>
        <p:nvGraphicFramePr>
          <p:cNvPr id="8" name="Chart 7"/>
          <p:cNvGraphicFramePr>
            <a:graphicFrameLocks noGrp="1"/>
          </p:cNvGraphicFramePr>
          <p:nvPr/>
        </p:nvGraphicFramePr>
        <p:xfrm>
          <a:off x="6035040" y="1645920"/>
          <a:ext cx="5669280" cy="402336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19</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E  V  A  L  U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Experimental Setup</a:t>
            </a:r>
          </a:p>
        </p:txBody>
      </p:sp>
      <p:graphicFrame>
        <p:nvGraphicFramePr>
          <p:cNvPr id="7" name="Table 6"/>
          <p:cNvGraphicFramePr>
            <a:graphicFrameLocks noGrp="1"/>
          </p:cNvGraphicFramePr>
          <p:nvPr/>
        </p:nvGraphicFramePr>
        <p:xfrm>
          <a:off x="640080" y="1737360"/>
          <a:ext cx="10881360" cy="3931920"/>
        </p:xfrm>
        <a:graphic>
          <a:graphicData uri="http://schemas.openxmlformats.org/drawingml/2006/table">
            <a:tbl>
              <a:tblPr firstRow="1" bandRow="1">
                <a:tableStyleId>{5C22544A-7EE6-4342-B048-85BDC9FD1C3A}</a:tableStyleId>
              </a:tblPr>
              <a:tblGrid>
                <a:gridCol w="3108960"/>
                <a:gridCol w="7772400"/>
              </a:tblGrid>
              <a:tr h="561702">
                <a:tc>
                  <a:txBody>
                    <a:bodyPr/>
                    <a:lstStyle/>
                    <a:p>
                      <a:pPr algn="l"/>
                      <a:r>
                        <a:rPr sz="1500" b="1">
                          <a:solidFill>
                            <a:srgbClr val="FFFFFF"/>
                          </a:solidFill>
                          <a:latin typeface="Segoe UI"/>
                        </a:rPr>
                        <a:t>Parameter</a:t>
                      </a:r>
                    </a:p>
                  </a:txBody>
                  <a:tcPr anchor="ctr" marL="109728">
                    <a:solidFill>
                      <a:srgbClr val="0B5394"/>
                    </a:solidFill>
                  </a:tcPr>
                </a:tc>
                <a:tc>
                  <a:txBody>
                    <a:bodyPr/>
                    <a:lstStyle/>
                    <a:p>
                      <a:pPr algn="l"/>
                      <a:r>
                        <a:rPr sz="1500" b="1">
                          <a:solidFill>
                            <a:srgbClr val="FFFFFF"/>
                          </a:solidFill>
                          <a:latin typeface="Segoe UI"/>
                        </a:rPr>
                        <a:t>Value</a:t>
                      </a:r>
                    </a:p>
                  </a:txBody>
                  <a:tcPr anchor="ctr" marL="109728">
                    <a:solidFill>
                      <a:srgbClr val="0B5394"/>
                    </a:solidFill>
                  </a:tcPr>
                </a:tc>
              </a:tr>
              <a:tr h="561702">
                <a:tc>
                  <a:txBody>
                    <a:bodyPr/>
                    <a:lstStyle/>
                    <a:p>
                      <a:r>
                        <a:rPr sz="1500" b="1">
                          <a:solidFill>
                            <a:srgbClr val="222B36"/>
                          </a:solidFill>
                          <a:latin typeface="Segoe UI"/>
                        </a:rPr>
                        <a:t>Dataset</a:t>
                      </a:r>
                    </a:p>
                  </a:txBody>
                  <a:tcPr anchor="ctr" marL="109728">
                    <a:solidFill>
                      <a:srgbClr val="FFFFFF"/>
                    </a:solidFill>
                  </a:tcPr>
                </a:tc>
                <a:tc>
                  <a:txBody>
                    <a:bodyPr/>
                    <a:lstStyle/>
                    <a:p>
                      <a:r>
                        <a:rPr sz="1500" b="0">
                          <a:solidFill>
                            <a:srgbClr val="222B36"/>
                          </a:solidFill>
                          <a:latin typeface="Segoe UI"/>
                        </a:rPr>
                        <a:t>MNIST — 60,000 train / 10,000 test, 28×28 grayscale</a:t>
                      </a:r>
                    </a:p>
                  </a:txBody>
                  <a:tcPr anchor="ctr" marL="109728">
                    <a:solidFill>
                      <a:srgbClr val="FFFFFF"/>
                    </a:solidFill>
                  </a:tcPr>
                </a:tc>
              </a:tr>
              <a:tr h="561702">
                <a:tc>
                  <a:txBody>
                    <a:bodyPr/>
                    <a:lstStyle/>
                    <a:p>
                      <a:r>
                        <a:rPr sz="1500" b="1">
                          <a:solidFill>
                            <a:srgbClr val="222B36"/>
                          </a:solidFill>
                          <a:latin typeface="Segoe UI"/>
                        </a:rPr>
                        <a:t>Train / Val split</a:t>
                      </a:r>
                    </a:p>
                  </a:txBody>
                  <a:tcPr anchor="ctr" marL="109728">
                    <a:solidFill>
                      <a:srgbClr val="EAF2FB"/>
                    </a:solidFill>
                  </a:tcPr>
                </a:tc>
                <a:tc>
                  <a:txBody>
                    <a:bodyPr/>
                    <a:lstStyle/>
                    <a:p>
                      <a:r>
                        <a:rPr sz="1500" b="0">
                          <a:solidFill>
                            <a:srgbClr val="222B36"/>
                          </a:solidFill>
                          <a:latin typeface="Segoe UI"/>
                        </a:rPr>
                        <a:t>48,000 training / 12,000 validation (80/20)</a:t>
                      </a:r>
                    </a:p>
                  </a:txBody>
                  <a:tcPr anchor="ctr" marL="109728">
                    <a:solidFill>
                      <a:srgbClr val="EAF2FB"/>
                    </a:solidFill>
                  </a:tcPr>
                </a:tc>
              </a:tr>
              <a:tr h="561702">
                <a:tc>
                  <a:txBody>
                    <a:bodyPr/>
                    <a:lstStyle/>
                    <a:p>
                      <a:r>
                        <a:rPr sz="1500" b="1">
                          <a:solidFill>
                            <a:srgbClr val="222B36"/>
                          </a:solidFill>
                          <a:latin typeface="Segoe UI"/>
                        </a:rPr>
                        <a:t>Network</a:t>
                      </a:r>
                    </a:p>
                  </a:txBody>
                  <a:tcPr anchor="ctr" marL="109728">
                    <a:solidFill>
                      <a:srgbClr val="FFFFFF"/>
                    </a:solidFill>
                  </a:tcPr>
                </a:tc>
                <a:tc>
                  <a:txBody>
                    <a:bodyPr/>
                    <a:lstStyle/>
                    <a:p>
                      <a:r>
                        <a:rPr sz="1500" b="0">
                          <a:solidFill>
                            <a:srgbClr val="222B36"/>
                          </a:solidFill>
                          <a:latin typeface="Segoe UI"/>
                        </a:rPr>
                        <a:t>2 hidden layers × 128 neurons (784→128→128→10)</a:t>
                      </a:r>
                    </a:p>
                  </a:txBody>
                  <a:tcPr anchor="ctr" marL="109728">
                    <a:solidFill>
                      <a:srgbClr val="FFFFFF"/>
                    </a:solidFill>
                  </a:tcPr>
                </a:tc>
              </a:tr>
              <a:tr h="561702">
                <a:tc>
                  <a:txBody>
                    <a:bodyPr/>
                    <a:lstStyle/>
                    <a:p>
                      <a:r>
                        <a:rPr sz="1500" b="1">
                          <a:solidFill>
                            <a:srgbClr val="222B36"/>
                          </a:solidFill>
                          <a:latin typeface="Segoe UI"/>
                        </a:rPr>
                        <a:t>Epochs / Batch size</a:t>
                      </a:r>
                    </a:p>
                  </a:txBody>
                  <a:tcPr anchor="ctr" marL="109728">
                    <a:solidFill>
                      <a:srgbClr val="EAF2FB"/>
                    </a:solidFill>
                  </a:tcPr>
                </a:tc>
                <a:tc>
                  <a:txBody>
                    <a:bodyPr/>
                    <a:lstStyle/>
                    <a:p>
                      <a:r>
                        <a:rPr sz="1500" b="0">
                          <a:solidFill>
                            <a:srgbClr val="222B36"/>
                          </a:solidFill>
                          <a:latin typeface="Segoe UI"/>
                        </a:rPr>
                        <a:t>20 epochs · batch 2,048 · 23 mini-batches/epoch</a:t>
                      </a:r>
                    </a:p>
                  </a:txBody>
                  <a:tcPr anchor="ctr" marL="109728">
                    <a:solidFill>
                      <a:srgbClr val="EAF2FB"/>
                    </a:solidFill>
                  </a:tcPr>
                </a:tc>
              </a:tr>
              <a:tr h="561702">
                <a:tc>
                  <a:txBody>
                    <a:bodyPr/>
                    <a:lstStyle/>
                    <a:p>
                      <a:r>
                        <a:rPr sz="1500" b="1">
                          <a:solidFill>
                            <a:srgbClr val="222B36"/>
                          </a:solidFill>
                          <a:latin typeface="Segoe UI"/>
                        </a:rPr>
                        <a:t>Learning rate</a:t>
                      </a:r>
                    </a:p>
                  </a:txBody>
                  <a:tcPr anchor="ctr" marL="109728">
                    <a:solidFill>
                      <a:srgbClr val="FFFFFF"/>
                    </a:solidFill>
                  </a:tcPr>
                </a:tc>
                <a:tc>
                  <a:txBody>
                    <a:bodyPr/>
                    <a:lstStyle/>
                    <a:p>
                      <a:r>
                        <a:rPr sz="1500" b="0">
                          <a:solidFill>
                            <a:srgbClr val="222B36"/>
                          </a:solidFill>
                          <a:latin typeface="Segoe UI"/>
                        </a:rPr>
                        <a:t>0.1 (SGD, Momentum) · 0.01 (Adam, Adam+LR)</a:t>
                      </a:r>
                    </a:p>
                  </a:txBody>
                  <a:tcPr anchor="ctr" marL="109728">
                    <a:solidFill>
                      <a:srgbClr val="FFFFFF"/>
                    </a:solidFill>
                  </a:tcPr>
                </a:tc>
              </a:tr>
              <a:tr h="561708">
                <a:tc>
                  <a:txBody>
                    <a:bodyPr/>
                    <a:lstStyle/>
                    <a:p>
                      <a:r>
                        <a:rPr sz="1500" b="1">
                          <a:solidFill>
                            <a:srgbClr val="222B36"/>
                          </a:solidFill>
                          <a:latin typeface="Segoe UI"/>
                        </a:rPr>
                        <a:t>Initialization</a:t>
                      </a:r>
                    </a:p>
                  </a:txBody>
                  <a:tcPr anchor="ctr" marL="109728">
                    <a:solidFill>
                      <a:srgbClr val="EAF2FB"/>
                    </a:solidFill>
                  </a:tcPr>
                </a:tc>
                <a:tc>
                  <a:txBody>
                    <a:bodyPr/>
                    <a:lstStyle/>
                    <a:p>
                      <a:r>
                        <a:rPr sz="1500" b="0">
                          <a:solidFill>
                            <a:srgbClr val="222B36"/>
                          </a:solidFill>
                          <a:latin typeface="Segoe UI"/>
                        </a:rPr>
                        <a:t>Xavier (σ = √(2/n_in)) · biases = 0 · seed = 42</a:t>
                      </a:r>
                    </a:p>
                  </a:txBody>
                  <a:tcPr anchor="ctr" marL="109728">
                    <a:solidFill>
                      <a:srgbClr val="EAF2FB"/>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20</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E  V  A  L  U  A  T  I  O  N</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Hardware &amp; Software Configuration</a:t>
            </a:r>
          </a:p>
        </p:txBody>
      </p:sp>
      <p:graphicFrame>
        <p:nvGraphicFramePr>
          <p:cNvPr id="7" name="Table 6"/>
          <p:cNvGraphicFramePr>
            <a:graphicFrameLocks noGrp="1"/>
          </p:cNvGraphicFramePr>
          <p:nvPr/>
        </p:nvGraphicFramePr>
        <p:xfrm>
          <a:off x="640080" y="1737360"/>
          <a:ext cx="10881360" cy="3291840"/>
        </p:xfrm>
        <a:graphic>
          <a:graphicData uri="http://schemas.openxmlformats.org/drawingml/2006/table">
            <a:tbl>
              <a:tblPr firstRow="1" bandRow="1">
                <a:tableStyleId>{5C22544A-7EE6-4342-B048-85BDC9FD1C3A}</a:tableStyleId>
              </a:tblPr>
              <a:tblGrid>
                <a:gridCol w="3840480"/>
                <a:gridCol w="7040880"/>
              </a:tblGrid>
              <a:tr h="658368">
                <a:tc>
                  <a:txBody>
                    <a:bodyPr/>
                    <a:lstStyle/>
                    <a:p>
                      <a:pPr algn="l"/>
                      <a:r>
                        <a:rPr sz="1600" b="1">
                          <a:solidFill>
                            <a:srgbClr val="FFFFFF"/>
                          </a:solidFill>
                          <a:latin typeface="Segoe UI"/>
                        </a:rPr>
                        <a:t>Component</a:t>
                      </a:r>
                    </a:p>
                  </a:txBody>
                  <a:tcPr anchor="ctr" marL="109728">
                    <a:solidFill>
                      <a:srgbClr val="0B5394"/>
                    </a:solidFill>
                  </a:tcPr>
                </a:tc>
                <a:tc>
                  <a:txBody>
                    <a:bodyPr/>
                    <a:lstStyle/>
                    <a:p>
                      <a:pPr algn="l"/>
                      <a:r>
                        <a:rPr sz="1600" b="1">
                          <a:solidFill>
                            <a:srgbClr val="FFFFFF"/>
                          </a:solidFill>
                          <a:latin typeface="Segoe UI"/>
                        </a:rPr>
                        <a:t>Specification</a:t>
                      </a:r>
                    </a:p>
                  </a:txBody>
                  <a:tcPr anchor="ctr" marL="109728">
                    <a:solidFill>
                      <a:srgbClr val="0B5394"/>
                    </a:solidFill>
                  </a:tcPr>
                </a:tc>
              </a:tr>
              <a:tr h="658368">
                <a:tc>
                  <a:txBody>
                    <a:bodyPr/>
                    <a:lstStyle/>
                    <a:p>
                      <a:r>
                        <a:rPr sz="1600" b="1">
                          <a:solidFill>
                            <a:srgbClr val="222B36"/>
                          </a:solidFill>
                          <a:latin typeface="Segoe UI"/>
                        </a:rPr>
                        <a:t>GPU</a:t>
                      </a:r>
                    </a:p>
                  </a:txBody>
                  <a:tcPr anchor="ctr" marL="109728">
                    <a:solidFill>
                      <a:srgbClr val="FFFFFF"/>
                    </a:solidFill>
                  </a:tcPr>
                </a:tc>
                <a:tc>
                  <a:txBody>
                    <a:bodyPr/>
                    <a:lstStyle/>
                    <a:p>
                      <a:r>
                        <a:rPr sz="1600" b="0">
                          <a:solidFill>
                            <a:srgbClr val="222B36"/>
                          </a:solidFill>
                          <a:latin typeface="Segoe UI"/>
                        </a:rPr>
                        <a:t>NVIDIA RTX A2000, 12 GB VRAM, Ampere (sm_86)</a:t>
                      </a:r>
                    </a:p>
                  </a:txBody>
                  <a:tcPr anchor="ctr" marL="109728">
                    <a:solidFill>
                      <a:srgbClr val="FFFFFF"/>
                    </a:solidFill>
                  </a:tcPr>
                </a:tc>
              </a:tr>
              <a:tr h="658368">
                <a:tc>
                  <a:txBody>
                    <a:bodyPr/>
                    <a:lstStyle/>
                    <a:p>
                      <a:r>
                        <a:rPr sz="1600" b="1">
                          <a:solidFill>
                            <a:srgbClr val="222B36"/>
                          </a:solidFill>
                          <a:latin typeface="Segoe UI"/>
                        </a:rPr>
                        <a:t>CUDA cores / Bandwidth</a:t>
                      </a:r>
                    </a:p>
                  </a:txBody>
                  <a:tcPr anchor="ctr" marL="109728">
                    <a:solidFill>
                      <a:srgbClr val="EAF2FB"/>
                    </a:solidFill>
                  </a:tcPr>
                </a:tc>
                <a:tc>
                  <a:txBody>
                    <a:bodyPr/>
                    <a:lstStyle/>
                    <a:p>
                      <a:r>
                        <a:rPr sz="1600" b="0">
                          <a:solidFill>
                            <a:srgbClr val="222B36"/>
                          </a:solidFill>
                          <a:latin typeface="Segoe UI"/>
                        </a:rPr>
                        <a:t>3,328 cores · 448 GB/s memory bandwidth</a:t>
                      </a:r>
                    </a:p>
                  </a:txBody>
                  <a:tcPr anchor="ctr" marL="109728">
                    <a:solidFill>
                      <a:srgbClr val="EAF2FB"/>
                    </a:solidFill>
                  </a:tcPr>
                </a:tc>
              </a:tr>
              <a:tr h="658368">
                <a:tc>
                  <a:txBody>
                    <a:bodyPr/>
                    <a:lstStyle/>
                    <a:p>
                      <a:r>
                        <a:rPr sz="1600" b="1">
                          <a:solidFill>
                            <a:srgbClr val="222B36"/>
                          </a:solidFill>
                          <a:latin typeface="Segoe UI"/>
                        </a:rPr>
                        <a:t>Compiler</a:t>
                      </a:r>
                    </a:p>
                  </a:txBody>
                  <a:tcPr anchor="ctr" marL="109728">
                    <a:solidFill>
                      <a:srgbClr val="FFFFFF"/>
                    </a:solidFill>
                  </a:tcPr>
                </a:tc>
                <a:tc>
                  <a:txBody>
                    <a:bodyPr/>
                    <a:lstStyle/>
                    <a:p>
                      <a:r>
                        <a:rPr sz="1600" b="0">
                          <a:solidFill>
                            <a:srgbClr val="222B36"/>
                          </a:solidFill>
                          <a:latin typeface="Segoe UI"/>
                        </a:rPr>
                        <a:t>nvcc −arch sm_86 −O2, paired with g++‑12</a:t>
                      </a:r>
                    </a:p>
                  </a:txBody>
                  <a:tcPr anchor="ctr" marL="109728">
                    <a:solidFill>
                      <a:srgbClr val="FFFFFF"/>
                    </a:solidFill>
                  </a:tcPr>
                </a:tc>
              </a:tr>
              <a:tr h="658368">
                <a:tc>
                  <a:txBody>
                    <a:bodyPr/>
                    <a:lstStyle/>
                    <a:p>
                      <a:r>
                        <a:rPr sz="1600" b="1">
                          <a:solidFill>
                            <a:srgbClr val="222B36"/>
                          </a:solidFill>
                          <a:latin typeface="Segoe UI"/>
                        </a:rPr>
                        <a:t>Driver</a:t>
                      </a:r>
                    </a:p>
                  </a:txBody>
                  <a:tcPr anchor="ctr" marL="109728">
                    <a:solidFill>
                      <a:srgbClr val="EAF2FB"/>
                    </a:solidFill>
                  </a:tcPr>
                </a:tc>
                <a:tc>
                  <a:txBody>
                    <a:bodyPr/>
                    <a:lstStyle/>
                    <a:p>
                      <a:r>
                        <a:rPr sz="1600" b="0">
                          <a:solidFill>
                            <a:srgbClr val="222B36"/>
                          </a:solidFill>
                          <a:latin typeface="Segoe UI"/>
                        </a:rPr>
                        <a:t>535.288.01</a:t>
                      </a:r>
                    </a:p>
                  </a:txBody>
                  <a:tcPr anchor="ctr" marL="109728">
                    <a:solidFill>
                      <a:srgbClr val="EAF2FB"/>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21</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E  S  U  L  T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Headline Numbers</a:t>
            </a:r>
          </a:p>
        </p:txBody>
      </p:sp>
      <p:sp>
        <p:nvSpPr>
          <p:cNvPr id="7" name="Rounded Rectangle 6"/>
          <p:cNvSpPr/>
          <p:nvPr/>
        </p:nvSpPr>
        <p:spPr>
          <a:xfrm>
            <a:off x="548640" y="2103120"/>
            <a:ext cx="3520440" cy="2377440"/>
          </a:xfrm>
          <a:prstGeom prst="roundRect">
            <a:avLst/>
          </a:prstGeom>
          <a:solidFill>
            <a:srgbClr val="FFFFFF"/>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4000" b="1">
                <a:solidFill>
                  <a:srgbClr val="1E7A46"/>
                </a:solidFill>
                <a:latin typeface="Segoe UI Semibold"/>
              </a:rPr>
              <a:t>0.0% → 97.2%</a:t>
            </a:r>
          </a:p>
          <a:p>
            <a:pPr algn="ctr"/>
            <a:r>
              <a:rPr sz="1300">
                <a:solidFill>
                  <a:srgbClr val="64748B"/>
                </a:solidFill>
                <a:latin typeface="Segoe UI"/>
              </a:rPr>
              <a:t>2PGA recovery (Momentum / Adam)</a:t>
            </a:r>
          </a:p>
        </p:txBody>
      </p:sp>
      <p:sp>
        <p:nvSpPr>
          <p:cNvPr id="8" name="Rectangle 7"/>
          <p:cNvSpPr/>
          <p:nvPr/>
        </p:nvSpPr>
        <p:spPr>
          <a:xfrm>
            <a:off x="548640" y="2103120"/>
            <a:ext cx="3520440" cy="822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43400" y="2103120"/>
            <a:ext cx="3520440" cy="2377440"/>
          </a:xfrm>
          <a:prstGeom prst="roundRect">
            <a:avLst/>
          </a:prstGeom>
          <a:solidFill>
            <a:srgbClr val="FFFFFF"/>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4000" b="1">
                <a:solidFill>
                  <a:srgbClr val="0B5394"/>
                </a:solidFill>
                <a:latin typeface="Segoe UI Semibold"/>
              </a:rPr>
              <a:t>2,202×</a:t>
            </a:r>
          </a:p>
          <a:p>
            <a:pPr algn="ctr"/>
            <a:r>
              <a:rPr sz="1300">
                <a:solidFill>
                  <a:srgbClr val="64748B"/>
                </a:solidFill>
                <a:latin typeface="Segoe UI"/>
              </a:rPr>
              <a:t>Speedup vs. serial CPU (SGD)</a:t>
            </a:r>
          </a:p>
        </p:txBody>
      </p:sp>
      <p:sp>
        <p:nvSpPr>
          <p:cNvPr id="10" name="Rectangle 9"/>
          <p:cNvSpPr/>
          <p:nvPr/>
        </p:nvSpPr>
        <p:spPr>
          <a:xfrm>
            <a:off x="4343400" y="2103120"/>
            <a:ext cx="3520440"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38160" y="2103120"/>
            <a:ext cx="3520440" cy="2377440"/>
          </a:xfrm>
          <a:prstGeom prst="roundRect">
            <a:avLst/>
          </a:prstGeom>
          <a:solidFill>
            <a:srgbClr val="FFFFFF"/>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4000" b="1">
                <a:solidFill>
                  <a:srgbClr val="2E75D6"/>
                </a:solidFill>
                <a:latin typeface="Segoe UI Semibold"/>
              </a:rPr>
              <a:t>&lt; 2 MB</a:t>
            </a:r>
          </a:p>
          <a:p>
            <a:pPr algn="ctr"/>
            <a:r>
              <a:rPr sz="1300">
                <a:solidFill>
                  <a:srgbClr val="64748B"/>
                </a:solidFill>
                <a:latin typeface="Segoe UI"/>
              </a:rPr>
              <a:t>Full binary, zero framework deps</a:t>
            </a:r>
          </a:p>
        </p:txBody>
      </p:sp>
      <p:sp>
        <p:nvSpPr>
          <p:cNvPr id="12" name="Rectangle 11"/>
          <p:cNvSpPr/>
          <p:nvPr/>
        </p:nvSpPr>
        <p:spPr>
          <a:xfrm>
            <a:off x="8138160" y="2103120"/>
            <a:ext cx="3520440" cy="82296"/>
          </a:xfrm>
          <a:prstGeom prst="rect">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22</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E  S  U  L  T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Speed: GPU vs. Serial CPU</a:t>
            </a:r>
          </a:p>
        </p:txBody>
      </p:sp>
      <p:graphicFrame>
        <p:nvGraphicFramePr>
          <p:cNvPr id="7" name="Chart 6"/>
          <p:cNvGraphicFramePr>
            <a:graphicFrameLocks noGrp="1"/>
          </p:cNvGraphicFramePr>
          <p:nvPr/>
        </p:nvGraphicFramePr>
        <p:xfrm>
          <a:off x="548640" y="1600200"/>
          <a:ext cx="10881360" cy="4297680"/>
        </p:xfrm>
        <a:graphic>
          <a:graphicData uri="http://schemas.openxmlformats.org/drawingml/2006/chart">
            <c:chart xmlns:c="http://schemas.openxmlformats.org/drawingml/2006/chart" r:id="rId2"/>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23</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E  S  U  L  T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Accuracy Across Configurations</a:t>
            </a:r>
          </a:p>
        </p:txBody>
      </p:sp>
      <p:graphicFrame>
        <p:nvGraphicFramePr>
          <p:cNvPr id="7" name="Chart 6"/>
          <p:cNvGraphicFramePr>
            <a:graphicFrameLocks noGrp="1"/>
          </p:cNvGraphicFramePr>
          <p:nvPr/>
        </p:nvGraphicFramePr>
        <p:xfrm>
          <a:off x="548640" y="1600200"/>
          <a:ext cx="10881360" cy="4297680"/>
        </p:xfrm>
        <a:graphic>
          <a:graphicData uri="http://schemas.openxmlformats.org/drawingml/2006/chart">
            <c:chart xmlns:c="http://schemas.openxmlformats.org/drawingml/2006/chart" r:id="rId2"/>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24</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R  E  S  U  L  T  S</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Convergence Over Training</a:t>
            </a:r>
          </a:p>
        </p:txBody>
      </p:sp>
      <p:graphicFrame>
        <p:nvGraphicFramePr>
          <p:cNvPr id="7" name="Chart 6"/>
          <p:cNvGraphicFramePr>
            <a:graphicFrameLocks noGrp="1"/>
          </p:cNvGraphicFramePr>
          <p:nvPr/>
        </p:nvGraphicFramePr>
        <p:xfrm>
          <a:off x="457200" y="1554480"/>
          <a:ext cx="7589520" cy="4480560"/>
        </p:xfrm>
        <a:graphic>
          <a:graphicData uri="http://schemas.openxmlformats.org/drawingml/2006/chart">
            <c:chart xmlns:c="http://schemas.openxmlformats.org/drawingml/2006/chart" r:id="rId2"/>
          </a:graphicData>
        </a:graphic>
      </p:graphicFrame>
      <p:sp>
        <p:nvSpPr>
          <p:cNvPr id="8" name="Rounded Rectangle 7"/>
          <p:cNvSpPr/>
          <p:nvPr/>
        </p:nvSpPr>
        <p:spPr>
          <a:xfrm>
            <a:off x="8321040" y="1828800"/>
            <a:ext cx="3383280" cy="1554480"/>
          </a:xfrm>
          <a:prstGeom prst="roundRect">
            <a:avLst/>
          </a:prstGeom>
          <a:solidFill>
            <a:srgbClr val="FBEAE7"/>
          </a:solidFill>
          <a:ln w="15875">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l"/>
            <a:r>
              <a:rPr sz="1300" b="1">
                <a:solidFill>
                  <a:srgbClr val="B43B2E"/>
                </a:solidFill>
                <a:latin typeface="Segoe UI"/>
              </a:rPr>
              <a:t>BN+Adam+LR peaks at
88.1% (epoch 2), then
DECLINES to 81.0%.
Instability, not slow
convergence.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25</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U  M  M  A  R  Y</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Contributions</a:t>
            </a:r>
          </a:p>
        </p:txBody>
      </p:sp>
      <p:sp>
        <p:nvSpPr>
          <p:cNvPr id="7" name="Oval 6"/>
          <p:cNvSpPr/>
          <p:nvPr/>
        </p:nvSpPr>
        <p:spPr>
          <a:xfrm>
            <a:off x="685800" y="1828800"/>
            <a:ext cx="640080" cy="64008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1</a:t>
            </a:r>
          </a:p>
        </p:txBody>
      </p:sp>
      <p:sp>
        <p:nvSpPr>
          <p:cNvPr id="8" name="TextBox 7"/>
          <p:cNvSpPr txBox="1"/>
          <p:nvPr/>
        </p:nvSpPr>
        <p:spPr>
          <a:xfrm>
            <a:off x="1508760" y="1847088"/>
            <a:ext cx="9875520" cy="640080"/>
          </a:xfrm>
          <a:prstGeom prst="rect">
            <a:avLst/>
          </a:prstGeom>
          <a:noFill/>
        </p:spPr>
        <p:txBody>
          <a:bodyPr wrap="square">
            <a:spAutoFit/>
          </a:bodyPr>
          <a:lstStyle/>
          <a:p>
            <a:pPr algn="l"/>
            <a:r>
              <a:rPr sz="1700" b="1" i="0">
                <a:solidFill>
                  <a:srgbClr val="0B2A4A"/>
                </a:solidFill>
                <a:latin typeface="Segoe UI"/>
              </a:rPr>
              <a:t>Two-Phase Gradient Accumulation — a general, lock-free fix for stateful optimizers on GPUs</a:t>
            </a:r>
          </a:p>
        </p:txBody>
      </p:sp>
      <p:sp>
        <p:nvSpPr>
          <p:cNvPr id="9" name="Oval 8"/>
          <p:cNvSpPr/>
          <p:nvPr/>
        </p:nvSpPr>
        <p:spPr>
          <a:xfrm>
            <a:off x="685800" y="2880360"/>
            <a:ext cx="640080" cy="64008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2</a:t>
            </a:r>
          </a:p>
        </p:txBody>
      </p:sp>
      <p:sp>
        <p:nvSpPr>
          <p:cNvPr id="10" name="TextBox 9"/>
          <p:cNvSpPr txBox="1"/>
          <p:nvPr/>
        </p:nvSpPr>
        <p:spPr>
          <a:xfrm>
            <a:off x="1508760" y="2898648"/>
            <a:ext cx="9875520" cy="640080"/>
          </a:xfrm>
          <a:prstGeom prst="rect">
            <a:avLst/>
          </a:prstGeom>
          <a:noFill/>
        </p:spPr>
        <p:txBody>
          <a:bodyPr wrap="square">
            <a:spAutoFit/>
          </a:bodyPr>
          <a:lstStyle/>
          <a:p>
            <a:pPr algn="l"/>
            <a:r>
              <a:rPr sz="1700" b="1" i="0">
                <a:solidFill>
                  <a:srgbClr val="0B2A4A"/>
                </a:solidFill>
                <a:latin typeface="Segoe UI"/>
              </a:rPr>
              <a:t>A correct, per-layer-staged CUDA implementation of Batch Normalization</a:t>
            </a:r>
          </a:p>
        </p:txBody>
      </p:sp>
      <p:sp>
        <p:nvSpPr>
          <p:cNvPr id="11" name="Oval 10"/>
          <p:cNvSpPr/>
          <p:nvPr/>
        </p:nvSpPr>
        <p:spPr>
          <a:xfrm>
            <a:off x="685800" y="3931920"/>
            <a:ext cx="640080" cy="64008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3</a:t>
            </a:r>
          </a:p>
        </p:txBody>
      </p:sp>
      <p:sp>
        <p:nvSpPr>
          <p:cNvPr id="12" name="TextBox 11"/>
          <p:cNvSpPr txBox="1"/>
          <p:nvPr/>
        </p:nvSpPr>
        <p:spPr>
          <a:xfrm>
            <a:off x="1508760" y="3950208"/>
            <a:ext cx="9875520" cy="640080"/>
          </a:xfrm>
          <a:prstGeom prst="rect">
            <a:avLst/>
          </a:prstGeom>
          <a:noFill/>
        </p:spPr>
        <p:txBody>
          <a:bodyPr wrap="square">
            <a:spAutoFit/>
          </a:bodyPr>
          <a:lstStyle/>
          <a:p>
            <a:pPr algn="l"/>
            <a:r>
              <a:rPr sz="1700" b="1" i="0">
                <a:solidFill>
                  <a:srgbClr val="0B2A4A"/>
                </a:solidFill>
                <a:latin typeface="Segoe UI"/>
              </a:rPr>
              <a:t>A &lt; 2 MB, dependency-free training engine — validated against PyTorch for edge deployment</a:t>
            </a:r>
          </a:p>
        </p:txBody>
      </p:sp>
      <p:sp>
        <p:nvSpPr>
          <p:cNvPr id="13" name="Oval 12"/>
          <p:cNvSpPr/>
          <p:nvPr/>
        </p:nvSpPr>
        <p:spPr>
          <a:xfrm>
            <a:off x="685800" y="4983480"/>
            <a:ext cx="640080" cy="640080"/>
          </a:xfrm>
          <a:prstGeom prst="ellips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4</a:t>
            </a:r>
          </a:p>
        </p:txBody>
      </p:sp>
      <p:sp>
        <p:nvSpPr>
          <p:cNvPr id="14" name="TextBox 13"/>
          <p:cNvSpPr txBox="1"/>
          <p:nvPr/>
        </p:nvSpPr>
        <p:spPr>
          <a:xfrm>
            <a:off x="1508760" y="5001768"/>
            <a:ext cx="9875520" cy="640080"/>
          </a:xfrm>
          <a:prstGeom prst="rect">
            <a:avLst/>
          </a:prstGeom>
          <a:noFill/>
        </p:spPr>
        <p:txBody>
          <a:bodyPr wrap="square">
            <a:spAutoFit/>
          </a:bodyPr>
          <a:lstStyle/>
          <a:p>
            <a:pPr algn="l"/>
            <a:r>
              <a:rPr sz="1700" b="1" i="0">
                <a:solidFill>
                  <a:srgbClr val="0B2A4A"/>
                </a:solidFill>
                <a:latin typeface="Segoe UI"/>
              </a:rPr>
              <a:t>An empirical, reproducible before/after demonstration — not just a theoretical argument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26</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U  M  M  A  R  Y</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Limitations</a:t>
            </a:r>
          </a:p>
        </p:txBody>
      </p:sp>
      <p:sp>
        <p:nvSpPr>
          <p:cNvPr id="7" name="Oval 6"/>
          <p:cNvSpPr/>
          <p:nvPr/>
        </p:nvSpPr>
        <p:spPr>
          <a:xfrm>
            <a:off x="685800" y="1828800"/>
            <a:ext cx="640080" cy="640080"/>
          </a:xfrm>
          <a:prstGeom prst="ellips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a:t>
            </a:r>
          </a:p>
        </p:txBody>
      </p:sp>
      <p:sp>
        <p:nvSpPr>
          <p:cNvPr id="8" name="TextBox 7"/>
          <p:cNvSpPr txBox="1"/>
          <p:nvPr/>
        </p:nvSpPr>
        <p:spPr>
          <a:xfrm>
            <a:off x="1508760" y="1847088"/>
            <a:ext cx="9875520" cy="640080"/>
          </a:xfrm>
          <a:prstGeom prst="rect">
            <a:avLst/>
          </a:prstGeom>
          <a:noFill/>
        </p:spPr>
        <p:txBody>
          <a:bodyPr wrap="square">
            <a:spAutoFit/>
          </a:bodyPr>
          <a:lstStyle/>
          <a:p>
            <a:pPr algn="l"/>
            <a:r>
              <a:rPr sz="1650" b="1" i="0">
                <a:solidFill>
                  <a:srgbClr val="0B2A4A"/>
                </a:solidFill>
                <a:latin typeface="Segoe UI"/>
              </a:rPr>
              <a:t>MLP accuracy (97.2%) trails CNN results (&gt;99%) — a deliberate scope choice</a:t>
            </a:r>
          </a:p>
        </p:txBody>
      </p:sp>
      <p:sp>
        <p:nvSpPr>
          <p:cNvPr id="9" name="Oval 8"/>
          <p:cNvSpPr/>
          <p:nvPr/>
        </p:nvSpPr>
        <p:spPr>
          <a:xfrm>
            <a:off x="685800" y="2880360"/>
            <a:ext cx="640080" cy="640080"/>
          </a:xfrm>
          <a:prstGeom prst="ellips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a:t>
            </a:r>
          </a:p>
        </p:txBody>
      </p:sp>
      <p:sp>
        <p:nvSpPr>
          <p:cNvPr id="10" name="TextBox 9"/>
          <p:cNvSpPr txBox="1"/>
          <p:nvPr/>
        </p:nvSpPr>
        <p:spPr>
          <a:xfrm>
            <a:off x="1508760" y="2898648"/>
            <a:ext cx="9875520" cy="640080"/>
          </a:xfrm>
          <a:prstGeom prst="rect">
            <a:avLst/>
          </a:prstGeom>
          <a:noFill/>
        </p:spPr>
        <p:txBody>
          <a:bodyPr wrap="square">
            <a:spAutoFit/>
          </a:bodyPr>
          <a:lstStyle/>
          <a:p>
            <a:pPr algn="l"/>
            <a:r>
              <a:rPr sz="1650" b="1" i="0">
                <a:solidFill>
                  <a:srgbClr val="0B2A4A"/>
                </a:solidFill>
                <a:latin typeface="Segoe UI"/>
              </a:rPr>
              <a:t>BN+Adam+LR genuinely underperforms (81.0%) — root cause not fully resolved</a:t>
            </a:r>
          </a:p>
        </p:txBody>
      </p:sp>
      <p:sp>
        <p:nvSpPr>
          <p:cNvPr id="11" name="Oval 10"/>
          <p:cNvSpPr/>
          <p:nvPr/>
        </p:nvSpPr>
        <p:spPr>
          <a:xfrm>
            <a:off x="685800" y="3931920"/>
            <a:ext cx="640080" cy="640080"/>
          </a:xfrm>
          <a:prstGeom prst="ellips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a:t>
            </a:r>
          </a:p>
        </p:txBody>
      </p:sp>
      <p:sp>
        <p:nvSpPr>
          <p:cNvPr id="12" name="TextBox 11"/>
          <p:cNvSpPr txBox="1"/>
          <p:nvPr/>
        </p:nvSpPr>
        <p:spPr>
          <a:xfrm>
            <a:off x="1508760" y="3950208"/>
            <a:ext cx="9875520" cy="640080"/>
          </a:xfrm>
          <a:prstGeom prst="rect">
            <a:avLst/>
          </a:prstGeom>
          <a:noFill/>
        </p:spPr>
        <p:txBody>
          <a:bodyPr wrap="square">
            <a:spAutoFit/>
          </a:bodyPr>
          <a:lstStyle/>
          <a:p>
            <a:pPr algn="l"/>
            <a:r>
              <a:rPr sz="1650" b="1" i="0">
                <a:solidFill>
                  <a:srgbClr val="0B2A4A"/>
                </a:solidFill>
                <a:latin typeface="Segoe UI"/>
              </a:rPr>
              <a:t>Serial CPU baseline uses a measured, but single-seed, single-GPU study</a:t>
            </a:r>
          </a:p>
        </p:txBody>
      </p:sp>
      <p:sp>
        <p:nvSpPr>
          <p:cNvPr id="13" name="Oval 12"/>
          <p:cNvSpPr/>
          <p:nvPr/>
        </p:nvSpPr>
        <p:spPr>
          <a:xfrm>
            <a:off x="685800" y="4983480"/>
            <a:ext cx="640080" cy="640080"/>
          </a:xfrm>
          <a:prstGeom prst="ellipse">
            <a:avLst/>
          </a:prstGeom>
          <a:solidFill>
            <a:srgbClr val="B4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Segoe UI"/>
              </a:rPr>
              <a:t>!</a:t>
            </a:r>
          </a:p>
        </p:txBody>
      </p:sp>
      <p:sp>
        <p:nvSpPr>
          <p:cNvPr id="14" name="TextBox 13"/>
          <p:cNvSpPr txBox="1"/>
          <p:nvPr/>
        </p:nvSpPr>
        <p:spPr>
          <a:xfrm>
            <a:off x="1508760" y="5001768"/>
            <a:ext cx="9875520" cy="640080"/>
          </a:xfrm>
          <a:prstGeom prst="rect">
            <a:avLst/>
          </a:prstGeom>
          <a:noFill/>
        </p:spPr>
        <p:txBody>
          <a:bodyPr wrap="square">
            <a:spAutoFit/>
          </a:bodyPr>
          <a:lstStyle/>
          <a:p>
            <a:pPr algn="l"/>
            <a:r>
              <a:rPr sz="1650" b="1" i="0">
                <a:solidFill>
                  <a:srgbClr val="0B2A4A"/>
                </a:solidFill>
                <a:latin typeface="Segoe UI"/>
              </a:rPr>
              <a:t>Phase-2 sync overhead grows with batch size — +17% at 4,096 vs. 2,048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27</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U  M  M  A  R  Y</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Future Work</a:t>
            </a:r>
          </a:p>
        </p:txBody>
      </p:sp>
      <p:sp>
        <p:nvSpPr>
          <p:cNvPr id="7" name="Oval 6"/>
          <p:cNvSpPr/>
          <p:nvPr/>
        </p:nvSpPr>
        <p:spPr>
          <a:xfrm>
            <a:off x="617220" y="1897380"/>
            <a:ext cx="868680" cy="868680"/>
          </a:xfrm>
          <a:prstGeom prst="ellipse">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WMMA</a:t>
            </a:r>
          </a:p>
        </p:txBody>
      </p:sp>
      <p:sp>
        <p:nvSpPr>
          <p:cNvPr id="8" name="TextBox 7"/>
          <p:cNvSpPr txBox="1"/>
          <p:nvPr/>
        </p:nvSpPr>
        <p:spPr>
          <a:xfrm>
            <a:off x="1737360" y="2057400"/>
            <a:ext cx="9601200" cy="640080"/>
          </a:xfrm>
          <a:prstGeom prst="rect">
            <a:avLst/>
          </a:prstGeom>
          <a:noFill/>
        </p:spPr>
        <p:txBody>
          <a:bodyPr wrap="square">
            <a:spAutoFit/>
          </a:bodyPr>
          <a:lstStyle/>
          <a:p>
            <a:pPr algn="l"/>
            <a:r>
              <a:rPr sz="1700" b="1" i="0">
                <a:solidFill>
                  <a:srgbClr val="0B2A4A"/>
                </a:solidFill>
                <a:latin typeface="Segoe UI"/>
              </a:rPr>
              <a:t>Tensor Core kernels for a further 2–3× throughput</a:t>
            </a:r>
          </a:p>
        </p:txBody>
      </p:sp>
      <p:sp>
        <p:nvSpPr>
          <p:cNvPr id="9" name="Oval 8"/>
          <p:cNvSpPr/>
          <p:nvPr/>
        </p:nvSpPr>
        <p:spPr>
          <a:xfrm>
            <a:off x="617220" y="3131820"/>
            <a:ext cx="868680" cy="868680"/>
          </a:xfrm>
          <a:prstGeom prst="ellipse">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CNN</a:t>
            </a:r>
          </a:p>
        </p:txBody>
      </p:sp>
      <p:sp>
        <p:nvSpPr>
          <p:cNvPr id="10" name="TextBox 9"/>
          <p:cNvSpPr txBox="1"/>
          <p:nvPr/>
        </p:nvSpPr>
        <p:spPr>
          <a:xfrm>
            <a:off x="1737360" y="3291840"/>
            <a:ext cx="9601200" cy="640080"/>
          </a:xfrm>
          <a:prstGeom prst="rect">
            <a:avLst/>
          </a:prstGeom>
          <a:noFill/>
        </p:spPr>
        <p:txBody>
          <a:bodyPr wrap="square">
            <a:spAutoFit/>
          </a:bodyPr>
          <a:lstStyle/>
          <a:p>
            <a:pPr algn="l"/>
            <a:r>
              <a:rPr sz="1700" b="1" i="0">
                <a:solidFill>
                  <a:srgbClr val="0B2A4A"/>
                </a:solidFill>
                <a:latin typeface="Segoe UI"/>
              </a:rPr>
              <a:t>Convolutional layers via im2col — push toward CIFAR-10</a:t>
            </a:r>
          </a:p>
        </p:txBody>
      </p:sp>
      <p:sp>
        <p:nvSpPr>
          <p:cNvPr id="11" name="Oval 10"/>
          <p:cNvSpPr/>
          <p:nvPr/>
        </p:nvSpPr>
        <p:spPr>
          <a:xfrm>
            <a:off x="617220" y="4366260"/>
            <a:ext cx="868680" cy="868680"/>
          </a:xfrm>
          <a:prstGeom prst="ellipse">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N-GPU</a:t>
            </a:r>
          </a:p>
        </p:txBody>
      </p:sp>
      <p:sp>
        <p:nvSpPr>
          <p:cNvPr id="12" name="TextBox 11"/>
          <p:cNvSpPr txBox="1"/>
          <p:nvPr/>
        </p:nvSpPr>
        <p:spPr>
          <a:xfrm>
            <a:off x="1737360" y="4526280"/>
            <a:ext cx="9601200" cy="640080"/>
          </a:xfrm>
          <a:prstGeom prst="rect">
            <a:avLst/>
          </a:prstGeom>
          <a:noFill/>
        </p:spPr>
        <p:txBody>
          <a:bodyPr wrap="square">
            <a:spAutoFit/>
          </a:bodyPr>
          <a:lstStyle/>
          <a:p>
            <a:pPr algn="l"/>
            <a:r>
              <a:rPr sz="1700" b="1" i="0">
                <a:solidFill>
                  <a:srgbClr val="0B2A4A"/>
                </a:solidFill>
                <a:latin typeface="Segoe UI"/>
              </a:rPr>
              <a:t>Multi-GPU scaling via NCCL AllReduce on Phase 1 gradients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28</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S  U  M  M  A  R  Y</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Conclusion</a:t>
            </a:r>
          </a:p>
        </p:txBody>
      </p:sp>
      <p:sp>
        <p:nvSpPr>
          <p:cNvPr id="7" name="TextBox 6"/>
          <p:cNvSpPr txBox="1"/>
          <p:nvPr/>
        </p:nvSpPr>
        <p:spPr>
          <a:xfrm>
            <a:off x="548640" y="1737360"/>
            <a:ext cx="10789920" cy="2926080"/>
          </a:xfrm>
          <a:prstGeom prst="rect">
            <a:avLst/>
          </a:prstGeom>
          <a:noFill/>
        </p:spPr>
        <p:txBody>
          <a:bodyPr wrap="square">
            <a:spAutoFit/>
          </a:bodyPr>
          <a:lstStyle/>
          <a:p>
            <a:pPr>
              <a:spcAft>
                <a:spcPts val="1800"/>
              </a:spcAft>
            </a:pPr>
            <a:r>
              <a:rPr sz="1900" b="1">
                <a:solidFill>
                  <a:srgbClr val="2E75D6"/>
                </a:solidFill>
                <a:latin typeface="Segoe UI"/>
              </a:rPr>
              <a:t>›  </a:t>
            </a:r>
            <a:r>
              <a:rPr sz="1900">
                <a:solidFill>
                  <a:srgbClr val="222B36"/>
                </a:solidFill>
                <a:latin typeface="Segoe UI"/>
              </a:rPr>
              <a:t>Parallel correctness ≠ sequential correctness — a mathematically valid update can still corrupt itself under naive GPU parallelization</a:t>
            </a:r>
          </a:p>
          <a:p>
            <a:pPr>
              <a:spcAft>
                <a:spcPts val="1800"/>
              </a:spcAft>
            </a:pPr>
            <a:r>
              <a:rPr sz="1900" b="1">
                <a:solidFill>
                  <a:srgbClr val="2E75D6"/>
                </a:solidFill>
                <a:latin typeface="Segoe UI"/>
              </a:rPr>
              <a:t>›  </a:t>
            </a:r>
            <a:r>
              <a:rPr sz="1900">
                <a:solidFill>
                  <a:srgbClr val="222B36"/>
                </a:solidFill>
                <a:latin typeface="Segoe UI"/>
              </a:rPr>
              <a:t>Two-Phase Gradient Accumulation fixes this for any stateful optimizer, at &lt; 0.5% runtime cost</a:t>
            </a:r>
          </a:p>
          <a:p>
            <a:pPr>
              <a:spcAft>
                <a:spcPts val="1800"/>
              </a:spcAft>
            </a:pPr>
            <a:r>
              <a:rPr sz="1900" b="1">
                <a:solidFill>
                  <a:srgbClr val="2E75D6"/>
                </a:solidFill>
                <a:latin typeface="Segoe UI"/>
              </a:rPr>
              <a:t>›  </a:t>
            </a:r>
            <a:r>
              <a:rPr sz="1900">
                <a:solidFill>
                  <a:srgbClr val="222B36"/>
                </a:solidFill>
                <a:latin typeface="Segoe UI"/>
              </a:rPr>
              <a:t>Validated end to end: 97.2% MNIST accuracy at a 2,202× speedup over serial CPU</a:t>
            </a:r>
          </a:p>
        </p:txBody>
      </p:sp>
      <p:sp>
        <p:nvSpPr>
          <p:cNvPr id="8" name="Rounded Rectangle 7"/>
          <p:cNvSpPr/>
          <p:nvPr/>
        </p:nvSpPr>
        <p:spPr>
          <a:xfrm>
            <a:off x="822960" y="4846320"/>
            <a:ext cx="2651760" cy="914400"/>
          </a:xfrm>
          <a:prstGeom prst="roundRect">
            <a:avLst/>
          </a:prstGeom>
          <a:solidFill>
            <a:srgbClr val="EAF2FB"/>
          </a:solidFill>
          <a:ln w="15875">
            <a:solidFill>
              <a:srgbClr val="BBD4E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B2A4A"/>
                </a:solidFill>
                <a:latin typeface="Segoe UI"/>
              </a:rPr>
              <a:t>PHASE 1
Σ gradients</a:t>
            </a:r>
          </a:p>
        </p:txBody>
      </p:sp>
      <p:cxnSp>
        <p:nvCxnSpPr>
          <p:cNvPr id="9" name="Connector 8"/>
          <p:cNvCxnSpPr/>
          <p:nvPr/>
        </p:nvCxnSpPr>
        <p:spPr>
          <a:xfrm>
            <a:off x="3520440" y="5303520"/>
            <a:ext cx="731520" cy="0"/>
          </a:xfrm>
          <a:prstGeom prst="line">
            <a:avLst/>
          </a:prstGeom>
          <a:ln w="28575">
            <a:solidFill>
              <a:srgbClr val="0B5394"/>
            </a:solidFill>
          </a:ln>
          <a:effectLst/>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5400000">
            <a:off x="4114800" y="5234940"/>
            <a:ext cx="137160" cy="137160"/>
          </a:xfrm>
          <a:prstGeom prst="triangle">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4846320"/>
            <a:ext cx="2651760" cy="914400"/>
          </a:xfrm>
          <a:prstGeom prst="roundRect">
            <a:avLst/>
          </a:prstGeom>
          <a:solidFill>
            <a:srgbClr val="E4F3E9"/>
          </a:solidFill>
          <a:ln w="1587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1E7A46"/>
                </a:solidFill>
                <a:latin typeface="Segoe UI"/>
              </a:rPr>
              <a:t>PHASE 2
1 owner / weight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29</a:t>
            </a:r>
          </a:p>
        </p:txBody>
      </p:sp>
      <p:sp>
        <p:nvSpPr>
          <p:cNvPr id="5" name="Rectangle 4"/>
          <p:cNvSpPr/>
          <p:nvPr/>
        </p:nvSpPr>
        <p:spPr>
          <a:xfrm>
            <a:off x="0" y="2468880"/>
            <a:ext cx="12191695" cy="201168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743200"/>
            <a:ext cx="10607040" cy="1005840"/>
          </a:xfrm>
          <a:prstGeom prst="rect">
            <a:avLst/>
          </a:prstGeom>
          <a:noFill/>
        </p:spPr>
        <p:txBody>
          <a:bodyPr wrap="none">
            <a:spAutoFit/>
          </a:bodyPr>
          <a:lstStyle/>
          <a:p>
            <a:pPr algn="ctr"/>
            <a:r>
              <a:rPr sz="5200" b="1">
                <a:solidFill>
                  <a:srgbClr val="0B2A4A"/>
                </a:solidFill>
                <a:latin typeface="Segoe UI Semibold"/>
              </a:rPr>
              <a:t>Thank You</a:t>
            </a:r>
          </a:p>
        </p:txBody>
      </p:sp>
      <p:sp>
        <p:nvSpPr>
          <p:cNvPr id="7" name="TextBox 6"/>
          <p:cNvSpPr txBox="1"/>
          <p:nvPr/>
        </p:nvSpPr>
        <p:spPr>
          <a:xfrm>
            <a:off x="777240" y="3703320"/>
            <a:ext cx="10607040" cy="548640"/>
          </a:xfrm>
          <a:prstGeom prst="rect">
            <a:avLst/>
          </a:prstGeom>
          <a:noFill/>
        </p:spPr>
        <p:txBody>
          <a:bodyPr wrap="square">
            <a:spAutoFit/>
          </a:bodyPr>
          <a:lstStyle/>
          <a:p>
            <a:pPr algn="ctr"/>
            <a:r>
              <a:rPr sz="2200" b="1" i="0">
                <a:solidFill>
                  <a:srgbClr val="2E75D6"/>
                </a:solidFill>
                <a:latin typeface="Segoe UI"/>
              </a:rPr>
              <a:t>Questions?</a:t>
            </a:r>
          </a:p>
        </p:txBody>
      </p:sp>
      <p:sp>
        <p:nvSpPr>
          <p:cNvPr id="8" name="TextBox 7"/>
          <p:cNvSpPr txBox="1"/>
          <p:nvPr/>
        </p:nvSpPr>
        <p:spPr>
          <a:xfrm>
            <a:off x="777240" y="4572000"/>
            <a:ext cx="10607040" cy="457200"/>
          </a:xfrm>
          <a:prstGeom prst="rect">
            <a:avLst/>
          </a:prstGeom>
          <a:noFill/>
        </p:spPr>
        <p:txBody>
          <a:bodyPr wrap="square">
            <a:spAutoFit/>
          </a:bodyPr>
          <a:lstStyle/>
          <a:p>
            <a:pPr algn="ctr"/>
            <a:r>
              <a:rPr sz="1300" b="0" i="0">
                <a:solidFill>
                  <a:srgbClr val="64748B"/>
                </a:solidFill>
                <a:latin typeface="Segoe UI"/>
              </a:rPr>
              <a:t>Samartha H V  ·  Chiranth R  ·  Pavithra N  —  Manipal Institute of Technology Bengaluru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30</a:t>
            </a:r>
          </a:p>
        </p:txBody>
      </p:sp>
      <p:sp>
        <p:nvSpPr>
          <p:cNvPr id="5" name="Rectangle 4"/>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82296"/>
          </a:xfrm>
          <a:prstGeom prst="rect">
            <a:avLst/>
          </a:prstGeom>
          <a:solidFill>
            <a:srgbClr val="2E7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834640"/>
            <a:ext cx="10607040" cy="1005840"/>
          </a:xfrm>
          <a:prstGeom prst="rect">
            <a:avLst/>
          </a:prstGeom>
          <a:noFill/>
        </p:spPr>
        <p:txBody>
          <a:bodyPr wrap="none">
            <a:spAutoFit/>
          </a:bodyPr>
          <a:lstStyle/>
          <a:p>
            <a:pPr algn="ctr"/>
            <a:r>
              <a:rPr sz="4400" b="1">
                <a:solidFill>
                  <a:srgbClr val="FFFFFF"/>
                </a:solidFill>
                <a:latin typeface="Segoe UI Semibold"/>
              </a:rPr>
              <a:t>Backup Slides</a:t>
            </a:r>
          </a:p>
        </p:txBody>
      </p:sp>
      <p:sp>
        <p:nvSpPr>
          <p:cNvPr id="8" name="TextBox 7"/>
          <p:cNvSpPr txBox="1"/>
          <p:nvPr/>
        </p:nvSpPr>
        <p:spPr>
          <a:xfrm>
            <a:off x="777240" y="3794760"/>
            <a:ext cx="10607040" cy="457200"/>
          </a:xfrm>
          <a:prstGeom prst="rect">
            <a:avLst/>
          </a:prstGeom>
          <a:noFill/>
        </p:spPr>
        <p:txBody>
          <a:bodyPr wrap="square">
            <a:spAutoFit/>
          </a:bodyPr>
          <a:lstStyle/>
          <a:p>
            <a:pPr algn="ctr"/>
            <a:r>
              <a:rPr sz="1600" b="0" i="0">
                <a:solidFill>
                  <a:srgbClr val="B9CFEA"/>
                </a:solidFill>
                <a:latin typeface="Segoe UI"/>
              </a:rPr>
              <a:t>Reserve material for detailed panel questions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31</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B  A  C  K  U  P</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CUDAnet vs. PyTorch</a:t>
            </a:r>
          </a:p>
        </p:txBody>
      </p:sp>
      <p:graphicFrame>
        <p:nvGraphicFramePr>
          <p:cNvPr id="7" name="Table 6"/>
          <p:cNvGraphicFramePr>
            <a:graphicFrameLocks noGrp="1"/>
          </p:cNvGraphicFramePr>
          <p:nvPr/>
        </p:nvGraphicFramePr>
        <p:xfrm>
          <a:off x="640080" y="1737360"/>
          <a:ext cx="10881360" cy="3840480"/>
        </p:xfrm>
        <a:graphic>
          <a:graphicData uri="http://schemas.openxmlformats.org/drawingml/2006/table">
            <a:tbl>
              <a:tblPr firstRow="1" bandRow="1">
                <a:tableStyleId>{5C22544A-7EE6-4342-B048-85BDC9FD1C3A}</a:tableStyleId>
              </a:tblPr>
              <a:tblGrid>
                <a:gridCol w="3657600"/>
                <a:gridCol w="3566160"/>
                <a:gridCol w="3657600"/>
              </a:tblGrid>
              <a:tr h="548640">
                <a:tc>
                  <a:txBody>
                    <a:bodyPr/>
                    <a:lstStyle/>
                    <a:p>
                      <a:pPr algn="l"/>
                      <a:r>
                        <a:rPr sz="1500" b="1">
                          <a:solidFill>
                            <a:srgbClr val="FFFFFF"/>
                          </a:solidFill>
                          <a:latin typeface="Segoe UI"/>
                        </a:rPr>
                        <a:t>Metric</a:t>
                      </a:r>
                    </a:p>
                  </a:txBody>
                  <a:tcPr anchor="ctr" marL="109728">
                    <a:solidFill>
                      <a:srgbClr val="0B5394"/>
                    </a:solidFill>
                  </a:tcPr>
                </a:tc>
                <a:tc>
                  <a:txBody>
                    <a:bodyPr/>
                    <a:lstStyle/>
                    <a:p>
                      <a:pPr algn="l"/>
                      <a:r>
                        <a:rPr sz="1500" b="1">
                          <a:solidFill>
                            <a:srgbClr val="FFFFFF"/>
                          </a:solidFill>
                          <a:latin typeface="Segoe UI"/>
                        </a:rPr>
                        <a:t>CUDAnet</a:t>
                      </a:r>
                    </a:p>
                  </a:txBody>
                  <a:tcPr anchor="ctr" marL="109728">
                    <a:solidFill>
                      <a:srgbClr val="0B5394"/>
                    </a:solidFill>
                  </a:tcPr>
                </a:tc>
                <a:tc>
                  <a:txBody>
                    <a:bodyPr/>
                    <a:lstStyle/>
                    <a:p>
                      <a:pPr algn="l"/>
                      <a:r>
                        <a:rPr sz="1500" b="1">
                          <a:solidFill>
                            <a:srgbClr val="FFFFFF"/>
                          </a:solidFill>
                          <a:latin typeface="Segoe UI"/>
                        </a:rPr>
                        <a:t>PyTorch</a:t>
                      </a:r>
                    </a:p>
                  </a:txBody>
                  <a:tcPr anchor="ctr" marL="109728">
                    <a:solidFill>
                      <a:srgbClr val="0B5394"/>
                    </a:solidFill>
                  </a:tcPr>
                </a:tc>
              </a:tr>
              <a:tr h="548640">
                <a:tc>
                  <a:txBody>
                    <a:bodyPr/>
                    <a:lstStyle/>
                    <a:p>
                      <a:r>
                        <a:rPr sz="1500" b="1">
                          <a:solidFill>
                            <a:srgbClr val="222B36"/>
                          </a:solidFill>
                          <a:latin typeface="Segoe UI"/>
                        </a:rPr>
                        <a:t>Test accuracy (20 ep.)</a:t>
                      </a:r>
                    </a:p>
                  </a:txBody>
                  <a:tcPr anchor="ctr" marL="109728">
                    <a:solidFill>
                      <a:srgbClr val="FFFFFF"/>
                    </a:solidFill>
                  </a:tcPr>
                </a:tc>
                <a:tc>
                  <a:txBody>
                    <a:bodyPr/>
                    <a:lstStyle/>
                    <a:p>
                      <a:r>
                        <a:rPr sz="1500" b="0">
                          <a:solidFill>
                            <a:srgbClr val="222B36"/>
                          </a:solidFill>
                          <a:latin typeface="Segoe UI"/>
                        </a:rPr>
                        <a:t>97.0%</a:t>
                      </a:r>
                    </a:p>
                  </a:txBody>
                  <a:tcPr anchor="ctr" marL="109728">
                    <a:solidFill>
                      <a:srgbClr val="FFFFFF"/>
                    </a:solidFill>
                  </a:tcPr>
                </a:tc>
                <a:tc>
                  <a:txBody>
                    <a:bodyPr/>
                    <a:lstStyle/>
                    <a:p>
                      <a:r>
                        <a:rPr sz="1500" b="0">
                          <a:solidFill>
                            <a:srgbClr val="222B36"/>
                          </a:solidFill>
                          <a:latin typeface="Segoe UI"/>
                        </a:rPr>
                        <a:t>97.7%</a:t>
                      </a:r>
                    </a:p>
                  </a:txBody>
                  <a:tcPr anchor="ctr" marL="109728">
                    <a:solidFill>
                      <a:srgbClr val="FFFFFF"/>
                    </a:solidFill>
                  </a:tcPr>
                </a:tc>
              </a:tr>
              <a:tr h="548640">
                <a:tc>
                  <a:txBody>
                    <a:bodyPr/>
                    <a:lstStyle/>
                    <a:p>
                      <a:r>
                        <a:rPr sz="1500" b="1">
                          <a:solidFill>
                            <a:srgbClr val="222B36"/>
                          </a:solidFill>
                          <a:latin typeface="Segoe UI"/>
                        </a:rPr>
                        <a:t>Avg. time / epoch</a:t>
                      </a:r>
                    </a:p>
                  </a:txBody>
                  <a:tcPr anchor="ctr" marL="109728">
                    <a:solidFill>
                      <a:srgbClr val="EAF2FB"/>
                    </a:solidFill>
                  </a:tcPr>
                </a:tc>
                <a:tc>
                  <a:txBody>
                    <a:bodyPr/>
                    <a:lstStyle/>
                    <a:p>
                      <a:r>
                        <a:rPr sz="1500" b="0">
                          <a:solidFill>
                            <a:srgbClr val="222B36"/>
                          </a:solidFill>
                          <a:latin typeface="Segoe UI"/>
                        </a:rPr>
                        <a:t>~0.95 s</a:t>
                      </a:r>
                    </a:p>
                  </a:txBody>
                  <a:tcPr anchor="ctr" marL="109728">
                    <a:solidFill>
                      <a:srgbClr val="EAF2FB"/>
                    </a:solidFill>
                  </a:tcPr>
                </a:tc>
                <a:tc>
                  <a:txBody>
                    <a:bodyPr/>
                    <a:lstStyle/>
                    <a:p>
                      <a:r>
                        <a:rPr sz="1500" b="0">
                          <a:solidFill>
                            <a:srgbClr val="222B36"/>
                          </a:solidFill>
                          <a:latin typeface="Segoe UI"/>
                        </a:rPr>
                        <a:t>0.25 s</a:t>
                      </a:r>
                    </a:p>
                  </a:txBody>
                  <a:tcPr anchor="ctr" marL="109728">
                    <a:solidFill>
                      <a:srgbClr val="EAF2FB"/>
                    </a:solidFill>
                  </a:tcPr>
                </a:tc>
              </a:tr>
              <a:tr h="548640">
                <a:tc>
                  <a:txBody>
                    <a:bodyPr/>
                    <a:lstStyle/>
                    <a:p>
                      <a:r>
                        <a:rPr sz="1500" b="1">
                          <a:solidFill>
                            <a:srgbClr val="222B36"/>
                          </a:solidFill>
                          <a:latin typeface="Segoe UI"/>
                        </a:rPr>
                        <a:t>Peak VRAM</a:t>
                      </a:r>
                    </a:p>
                  </a:txBody>
                  <a:tcPr anchor="ctr" marL="109728">
                    <a:solidFill>
                      <a:srgbClr val="FFFFFF"/>
                    </a:solidFill>
                  </a:tcPr>
                </a:tc>
                <a:tc>
                  <a:txBody>
                    <a:bodyPr/>
                    <a:lstStyle/>
                    <a:p>
                      <a:r>
                        <a:rPr sz="1500" b="0">
                          <a:solidFill>
                            <a:srgbClr val="222B36"/>
                          </a:solidFill>
                          <a:latin typeface="Segoe UI"/>
                        </a:rPr>
                        <a:t>~470 KB</a:t>
                      </a:r>
                    </a:p>
                  </a:txBody>
                  <a:tcPr anchor="ctr" marL="109728">
                    <a:solidFill>
                      <a:srgbClr val="FFFFFF"/>
                    </a:solidFill>
                  </a:tcPr>
                </a:tc>
                <a:tc>
                  <a:txBody>
                    <a:bodyPr/>
                    <a:lstStyle/>
                    <a:p>
                      <a:r>
                        <a:rPr sz="1500" b="0">
                          <a:solidFill>
                            <a:srgbClr val="222B36"/>
                          </a:solidFill>
                          <a:latin typeface="Segoe UI"/>
                        </a:rPr>
                        <a:t>248 MB</a:t>
                      </a:r>
                    </a:p>
                  </a:txBody>
                  <a:tcPr anchor="ctr" marL="109728">
                    <a:solidFill>
                      <a:srgbClr val="FFFFFF"/>
                    </a:solidFill>
                  </a:tcPr>
                </a:tc>
              </a:tr>
              <a:tr h="548640">
                <a:tc>
                  <a:txBody>
                    <a:bodyPr/>
                    <a:lstStyle/>
                    <a:p>
                      <a:r>
                        <a:rPr sz="1500" b="1">
                          <a:solidFill>
                            <a:srgbClr val="222B36"/>
                          </a:solidFill>
                          <a:latin typeface="Segoe UI"/>
                        </a:rPr>
                        <a:t>Install size</a:t>
                      </a:r>
                    </a:p>
                  </a:txBody>
                  <a:tcPr anchor="ctr" marL="109728">
                    <a:solidFill>
                      <a:srgbClr val="EAF2FB"/>
                    </a:solidFill>
                  </a:tcPr>
                </a:tc>
                <a:tc>
                  <a:txBody>
                    <a:bodyPr/>
                    <a:lstStyle/>
                    <a:p>
                      <a:r>
                        <a:rPr sz="1500" b="0">
                          <a:solidFill>
                            <a:srgbClr val="222B36"/>
                          </a:solidFill>
                          <a:latin typeface="Segoe UI"/>
                        </a:rPr>
                        <a:t>&lt; 2 MB</a:t>
                      </a:r>
                    </a:p>
                  </a:txBody>
                  <a:tcPr anchor="ctr" marL="109728">
                    <a:solidFill>
                      <a:srgbClr val="EAF2FB"/>
                    </a:solidFill>
                  </a:tcPr>
                </a:tc>
                <a:tc>
                  <a:txBody>
                    <a:bodyPr/>
                    <a:lstStyle/>
                    <a:p>
                      <a:r>
                        <a:rPr sz="1500" b="0">
                          <a:solidFill>
                            <a:srgbClr val="222B36"/>
                          </a:solidFill>
                          <a:latin typeface="Segoe UI"/>
                        </a:rPr>
                        <a:t>1.8 GB</a:t>
                      </a:r>
                    </a:p>
                  </a:txBody>
                  <a:tcPr anchor="ctr" marL="109728">
                    <a:solidFill>
                      <a:srgbClr val="EAF2FB"/>
                    </a:solidFill>
                  </a:tcPr>
                </a:tc>
              </a:tr>
              <a:tr h="548640">
                <a:tc>
                  <a:txBody>
                    <a:bodyPr/>
                    <a:lstStyle/>
                    <a:p>
                      <a:r>
                        <a:rPr sz="1500" b="1">
                          <a:solidFill>
                            <a:srgbClr val="222B36"/>
                          </a:solidFill>
                          <a:latin typeface="Segoe UI"/>
                        </a:rPr>
                        <a:t>Runtime dependencies</a:t>
                      </a:r>
                    </a:p>
                  </a:txBody>
                  <a:tcPr anchor="ctr" marL="109728">
                    <a:solidFill>
                      <a:srgbClr val="FFFFFF"/>
                    </a:solidFill>
                  </a:tcPr>
                </a:tc>
                <a:tc>
                  <a:txBody>
                    <a:bodyPr/>
                    <a:lstStyle/>
                    <a:p>
                      <a:r>
                        <a:rPr sz="1500" b="0">
                          <a:solidFill>
                            <a:srgbClr val="222B36"/>
                          </a:solidFill>
                          <a:latin typeface="Segoe UI"/>
                        </a:rPr>
                        <a:t>libcuda.so</a:t>
                      </a:r>
                    </a:p>
                  </a:txBody>
                  <a:tcPr anchor="ctr" marL="109728">
                    <a:solidFill>
                      <a:srgbClr val="FFFFFF"/>
                    </a:solidFill>
                  </a:tcPr>
                </a:tc>
                <a:tc>
                  <a:txBody>
                    <a:bodyPr/>
                    <a:lstStyle/>
                    <a:p>
                      <a:r>
                        <a:rPr sz="1500" b="0">
                          <a:solidFill>
                            <a:srgbClr val="222B36"/>
                          </a:solidFill>
                          <a:latin typeface="Segoe UI"/>
                        </a:rPr>
                        <a:t>Python + libtorch</a:t>
                      </a:r>
                    </a:p>
                  </a:txBody>
                  <a:tcPr anchor="ctr" marL="109728">
                    <a:solidFill>
                      <a:srgbClr val="FFFFFF"/>
                    </a:solidFill>
                  </a:tcPr>
                </a:tc>
              </a:tr>
              <a:tr h="548640">
                <a:tc>
                  <a:txBody>
                    <a:bodyPr/>
                    <a:lstStyle/>
                    <a:p>
                      <a:r>
                        <a:rPr sz="1500" b="1">
                          <a:solidFill>
                            <a:srgbClr val="222B36"/>
                          </a:solidFill>
                          <a:latin typeface="Segoe UI"/>
                        </a:rPr>
                        <a:t>Startup time</a:t>
                      </a:r>
                    </a:p>
                  </a:txBody>
                  <a:tcPr anchor="ctr" marL="109728">
                    <a:solidFill>
                      <a:srgbClr val="EAF2FB"/>
                    </a:solidFill>
                  </a:tcPr>
                </a:tc>
                <a:tc>
                  <a:txBody>
                    <a:bodyPr/>
                    <a:lstStyle/>
                    <a:p>
                      <a:r>
                        <a:rPr sz="1500" b="0">
                          <a:solidFill>
                            <a:srgbClr val="222B36"/>
                          </a:solidFill>
                          <a:latin typeface="Segoe UI"/>
                        </a:rPr>
                        <a:t>&lt; 100 ms</a:t>
                      </a:r>
                    </a:p>
                  </a:txBody>
                  <a:tcPr anchor="ctr" marL="109728">
                    <a:solidFill>
                      <a:srgbClr val="EAF2FB"/>
                    </a:solidFill>
                  </a:tcPr>
                </a:tc>
                <a:tc>
                  <a:txBody>
                    <a:bodyPr/>
                    <a:lstStyle/>
                    <a:p>
                      <a:r>
                        <a:rPr sz="1500" b="0">
                          <a:solidFill>
                            <a:srgbClr val="222B36"/>
                          </a:solidFill>
                          <a:latin typeface="Segoe UI"/>
                        </a:rPr>
                        <a:t>~3–5 s</a:t>
                      </a:r>
                    </a:p>
                  </a:txBody>
                  <a:tcPr anchor="ctr" marL="109728">
                    <a:solidFill>
                      <a:srgbClr val="EAF2FB"/>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32</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B  A  C  K  U  P</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Batch Size Scaling</a:t>
            </a:r>
          </a:p>
        </p:txBody>
      </p:sp>
      <p:graphicFrame>
        <p:nvGraphicFramePr>
          <p:cNvPr id="7" name="Chart 6"/>
          <p:cNvGraphicFramePr>
            <a:graphicFrameLocks noGrp="1"/>
          </p:cNvGraphicFramePr>
          <p:nvPr/>
        </p:nvGraphicFramePr>
        <p:xfrm>
          <a:off x="640080" y="1737360"/>
          <a:ext cx="10881360" cy="3931920"/>
        </p:xfrm>
        <a:graphic>
          <a:graphicData uri="http://schemas.openxmlformats.org/drawingml/2006/chart">
            <c:chart xmlns:c="http://schemas.openxmlformats.org/drawingml/2006/chart" r:id="rId2"/>
          </a:graphicData>
        </a:graphic>
      </p:graphicFrame>
      <p:sp>
        <p:nvSpPr>
          <p:cNvPr id="8" name="TextBox 7"/>
          <p:cNvSpPr txBox="1"/>
          <p:nvPr/>
        </p:nvSpPr>
        <p:spPr>
          <a:xfrm>
            <a:off x="640080" y="5852160"/>
            <a:ext cx="10881360" cy="457200"/>
          </a:xfrm>
          <a:prstGeom prst="rect">
            <a:avLst/>
          </a:prstGeom>
          <a:noFill/>
        </p:spPr>
        <p:txBody>
          <a:bodyPr wrap="square">
            <a:spAutoFit/>
          </a:bodyPr>
          <a:lstStyle/>
          <a:p>
            <a:pPr algn="l"/>
            <a:r>
              <a:rPr sz="1300" b="0" i="0">
                <a:solidFill>
                  <a:srgbClr val="64748B"/>
                </a:solidFill>
                <a:latin typeface="Segoe UI"/>
              </a:rPr>
              <a:t>2,048 is the practical sweet spot — past it, Phase-2 sync overhead grows faster than throughput gain.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33</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B  A  C  K  U  P</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Tensor Core (WMMA) Status — Honest Note</a:t>
            </a:r>
          </a:p>
        </p:txBody>
      </p:sp>
      <p:sp>
        <p:nvSpPr>
          <p:cNvPr id="7" name="TextBox 6"/>
          <p:cNvSpPr txBox="1"/>
          <p:nvPr/>
        </p:nvSpPr>
        <p:spPr>
          <a:xfrm>
            <a:off x="640080" y="1737360"/>
            <a:ext cx="10607040" cy="3657600"/>
          </a:xfrm>
          <a:prstGeom prst="rect">
            <a:avLst/>
          </a:prstGeom>
          <a:noFill/>
        </p:spPr>
        <p:txBody>
          <a:bodyPr wrap="square">
            <a:spAutoFit/>
          </a:bodyPr>
          <a:lstStyle/>
          <a:p>
            <a:pPr>
              <a:spcAft>
                <a:spcPts val="1400"/>
              </a:spcAft>
            </a:pPr>
            <a:r>
              <a:rPr sz="1800" b="1">
                <a:solidFill>
                  <a:srgbClr val="2E75D6"/>
                </a:solidFill>
                <a:latin typeface="Segoe UI"/>
              </a:rPr>
              <a:t>›  </a:t>
            </a:r>
            <a:r>
              <a:rPr sz="1800">
                <a:solidFill>
                  <a:srgbClr val="222B36"/>
                </a:solidFill>
                <a:latin typeface="Segoe UI"/>
              </a:rPr>
              <a:t>True wmma::mma_sync kernels exist in source — architecturally correct</a:t>
            </a:r>
          </a:p>
          <a:p>
            <a:pPr>
              <a:spcAft>
                <a:spcPts val="1400"/>
              </a:spcAft>
            </a:pPr>
            <a:r>
              <a:rPr sz="1800" b="1">
                <a:solidFill>
                  <a:srgbClr val="2E75D6"/>
                </a:solidFill>
                <a:latin typeface="Segoe UI"/>
              </a:rPr>
              <a:t>›  </a:t>
            </a:r>
            <a:r>
              <a:rPr sz="1800">
                <a:solidFill>
                  <a:srgbClr val="222B36"/>
                </a:solidFill>
                <a:latin typeface="Segoe UI"/>
              </a:rPr>
              <a:t>A preprocessor flag issue currently prevents them from being compiled into the default build</a:t>
            </a:r>
          </a:p>
          <a:p>
            <a:pPr>
              <a:spcAft>
                <a:spcPts val="1400"/>
              </a:spcAft>
            </a:pPr>
            <a:r>
              <a:rPr sz="1800" b="1">
                <a:solidFill>
                  <a:srgbClr val="2E75D6"/>
                </a:solidFill>
                <a:latin typeface="Segoe UI"/>
              </a:rPr>
              <a:t>›  </a:t>
            </a:r>
            <a:r>
              <a:rPr sz="1800">
                <a:solidFill>
                  <a:srgbClr val="222B36"/>
                </a:solidFill>
                <a:latin typeface="Segoe UI"/>
              </a:rPr>
              <a:t>Default network (784/128/2048) is fully eligible — all divisible by 16</a:t>
            </a:r>
          </a:p>
          <a:p>
            <a:pPr>
              <a:spcAft>
                <a:spcPts val="1400"/>
              </a:spcAft>
            </a:pPr>
            <a:r>
              <a:rPr sz="1800" b="1">
                <a:solidFill>
                  <a:srgbClr val="2E75D6"/>
                </a:solidFill>
                <a:latin typeface="Segoe UI"/>
              </a:rPr>
              <a:t>›  </a:t>
            </a:r>
            <a:r>
              <a:rPr sz="1800">
                <a:solidFill>
                  <a:srgbClr val="222B36"/>
                </a:solidFill>
                <a:latin typeface="Segoe UI"/>
              </a:rPr>
              <a:t>This is exactly why the paper lists WMMA integration as future 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528816"/>
            <a:ext cx="3657600" cy="274320"/>
          </a:xfrm>
          <a:prstGeom prst="rect">
            <a:avLst/>
          </a:prstGeom>
          <a:noFill/>
        </p:spPr>
        <p:txBody>
          <a:bodyPr wrap="none" lIns="0" tIns="0">
            <a:spAutoFit/>
          </a:bodyPr>
          <a:lstStyle/>
          <a:p>
            <a:r>
              <a:rPr sz="900">
                <a:solidFill>
                  <a:srgbClr val="64748B"/>
                </a:solidFill>
                <a:latin typeface="Segoe UI"/>
              </a:rPr>
              <a:t>CUDAnet — IEEE Conference Presentation</a:t>
            </a:r>
          </a:p>
        </p:txBody>
      </p:sp>
      <p:sp>
        <p:nvSpPr>
          <p:cNvPr id="4" name="TextBox 3"/>
          <p:cNvSpPr txBox="1"/>
          <p:nvPr/>
        </p:nvSpPr>
        <p:spPr>
          <a:xfrm>
            <a:off x="11475720" y="6528816"/>
            <a:ext cx="548640" cy="274320"/>
          </a:xfrm>
          <a:prstGeom prst="rect">
            <a:avLst/>
          </a:prstGeom>
          <a:noFill/>
        </p:spPr>
        <p:txBody>
          <a:bodyPr wrap="none" lIns="0" tIns="0">
            <a:spAutoFit/>
          </a:bodyPr>
          <a:lstStyle/>
          <a:p>
            <a:pPr algn="r"/>
            <a:r>
              <a:rPr sz="900">
                <a:solidFill>
                  <a:srgbClr val="64748B"/>
                </a:solidFill>
                <a:latin typeface="Segoe UI"/>
              </a:rPr>
              <a:t>34</a:t>
            </a:r>
          </a:p>
        </p:txBody>
      </p:sp>
      <p:sp>
        <p:nvSpPr>
          <p:cNvPr id="5" name="TextBox 4"/>
          <p:cNvSpPr txBox="1"/>
          <p:nvPr/>
        </p:nvSpPr>
        <p:spPr>
          <a:xfrm>
            <a:off x="502920" y="274320"/>
            <a:ext cx="10058400" cy="320040"/>
          </a:xfrm>
          <a:prstGeom prst="rect">
            <a:avLst/>
          </a:prstGeom>
          <a:noFill/>
        </p:spPr>
        <p:txBody>
          <a:bodyPr wrap="none">
            <a:spAutoFit/>
          </a:bodyPr>
          <a:lstStyle/>
          <a:p>
            <a:r>
              <a:rPr sz="1300" b="1">
                <a:solidFill>
                  <a:srgbClr val="2E75D6"/>
                </a:solidFill>
                <a:latin typeface="Segoe UI"/>
              </a:rPr>
              <a:t>B  A  C  K  U  P</a:t>
            </a:r>
          </a:p>
        </p:txBody>
      </p:sp>
      <p:sp>
        <p:nvSpPr>
          <p:cNvPr id="6" name="TextBox 5"/>
          <p:cNvSpPr txBox="1"/>
          <p:nvPr/>
        </p:nvSpPr>
        <p:spPr>
          <a:xfrm>
            <a:off x="457200" y="566928"/>
            <a:ext cx="11247120" cy="822960"/>
          </a:xfrm>
          <a:prstGeom prst="rect">
            <a:avLst/>
          </a:prstGeom>
          <a:noFill/>
        </p:spPr>
        <p:txBody>
          <a:bodyPr wrap="none">
            <a:spAutoFit/>
          </a:bodyPr>
          <a:lstStyle/>
          <a:p>
            <a:r>
              <a:rPr sz="3200" b="1">
                <a:solidFill>
                  <a:srgbClr val="0B2A4A"/>
                </a:solidFill>
                <a:latin typeface="Segoe UI Semibold"/>
              </a:rPr>
              <a:t>Adam Bias-Correction — A Bookkeeping Detail</a:t>
            </a:r>
          </a:p>
        </p:txBody>
      </p:sp>
      <p:sp>
        <p:nvSpPr>
          <p:cNvPr id="7" name="TextBox 6"/>
          <p:cNvSpPr txBox="1"/>
          <p:nvPr/>
        </p:nvSpPr>
        <p:spPr>
          <a:xfrm>
            <a:off x="640080" y="1737360"/>
            <a:ext cx="10607040" cy="3657600"/>
          </a:xfrm>
          <a:prstGeom prst="rect">
            <a:avLst/>
          </a:prstGeom>
          <a:noFill/>
        </p:spPr>
        <p:txBody>
          <a:bodyPr wrap="square">
            <a:spAutoFit/>
          </a:bodyPr>
          <a:lstStyle/>
          <a:p>
            <a:pPr>
              <a:spcAft>
                <a:spcPts val="1400"/>
              </a:spcAft>
            </a:pPr>
            <a:r>
              <a:rPr sz="1800" b="1">
                <a:solidFill>
                  <a:srgbClr val="2E75D6"/>
                </a:solidFill>
                <a:latin typeface="Segoe UI"/>
              </a:rPr>
              <a:t>›  </a:t>
            </a:r>
            <a:r>
              <a:rPr sz="1800">
                <a:solidFill>
                  <a:srgbClr val="222B36"/>
                </a:solidFill>
                <a:latin typeface="Segoe UI"/>
              </a:rPr>
              <a:t>Canonical Adam increments step t once per mini-batch</a:t>
            </a:r>
          </a:p>
          <a:p>
            <a:pPr>
              <a:spcAft>
                <a:spcPts val="1400"/>
              </a:spcAft>
            </a:pPr>
            <a:r>
              <a:rPr sz="1800" b="1">
                <a:solidFill>
                  <a:srgbClr val="2E75D6"/>
                </a:solidFill>
                <a:latin typeface="Segoe UI"/>
              </a:rPr>
              <a:t>›  </a:t>
            </a:r>
            <a:r>
              <a:rPr sz="1800">
                <a:solidFill>
                  <a:srgbClr val="222B36"/>
                </a:solidFill>
                <a:latin typeface="Segoe UI"/>
              </a:rPr>
              <a:t>Our implementation currently increments t once per EPOCH</a:t>
            </a:r>
          </a:p>
          <a:p>
            <a:pPr>
              <a:spcAft>
                <a:spcPts val="1400"/>
              </a:spcAft>
            </a:pPr>
            <a:r>
              <a:rPr sz="1800" b="1">
                <a:solidFill>
                  <a:srgbClr val="2E75D6"/>
                </a:solidFill>
                <a:latin typeface="Segoe UI"/>
              </a:rPr>
              <a:t>›  </a:t>
            </a:r>
            <a:r>
              <a:rPr sz="1800">
                <a:solidFill>
                  <a:srgbClr val="222B36"/>
                </a:solidFill>
                <a:latin typeface="Segoe UI"/>
              </a:rPr>
              <a:t>Across 20 epochs × 23 batches: t reaches 20, not 460</a:t>
            </a:r>
          </a:p>
          <a:p>
            <a:pPr>
              <a:spcAft>
                <a:spcPts val="1400"/>
              </a:spcAft>
            </a:pPr>
            <a:r>
              <a:rPr sz="1800" b="1">
                <a:solidFill>
                  <a:srgbClr val="2E75D6"/>
                </a:solidFill>
                <a:latin typeface="Segoe UI"/>
              </a:rPr>
              <a:t>›  </a:t>
            </a:r>
            <a:r>
              <a:rPr sz="1800">
                <a:solidFill>
                  <a:srgbClr val="222B36"/>
                </a:solidFill>
                <a:latin typeface="Segoe UI"/>
              </a:rPr>
              <a:t>Effect is small for β1, more noticeable for β2's bias correction early in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